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2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9144000" cy="1440180"/>
          </a:xfrm>
          <a:prstGeom prst="rect">
            <a:avLst/>
          </a:prstGeom>
          <a:solidFill>
            <a:srgbClr val="39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82296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3200" b="1">
                <a:solidFill>
                  <a:srgbClr val="FFFFFF"/>
                </a:solidFill>
              </a:defRPr>
            </a:pPr>
            <a:r>
              <a:t>Uganda NDC Data Explorer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74519"/>
            <a:ext cx="82296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1400" b="0">
                <a:solidFill>
                  <a:srgbClr val="B4C8BE"/>
                </a:solidFill>
              </a:defRPr>
            </a:pPr>
            <a:r>
              <a:t>Decision-support cockpit · powered by Climate TRACE API v7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423160"/>
            <a:ext cx="82296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1100" b="0">
                <a:solidFill>
                  <a:srgbClr val="B4C8BE"/>
                </a:solidFill>
              </a:defRPr>
            </a:pPr>
            <a:r>
              <a:t>Climate TRACE API  →  3D GIS map  →  NDC AI chatbot  →  policy decisions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86200"/>
            <a:ext cx="822960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1100" b="0">
                <a:solidFill>
                  <a:srgbClr val="FFFFFF"/>
                </a:solidFill>
              </a:defRPr>
            </a:pPr>
            <a:r>
              <a:t>Date: 17 June 2026</a:t>
            </a:r>
            <a:br/>
            <a:r>
              <a:t>Presented by: Tseten Sherpa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28016"/>
            <a:ext cx="82296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2000" b="1">
                <a:solidFill>
                  <a:srgbClr val="FFFFFF"/>
                </a:solidFill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02336"/>
            <a:ext cx="82296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1000" b="0">
                <a:solidFill>
                  <a:srgbClr val="B4C8BE"/>
                </a:solidFill>
              </a:defRPr>
            </a:pPr>
            <a:r>
              <a:t>From static NDCs to operational delivery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736592"/>
            <a:ext cx="9144000" cy="370332"/>
          </a:xfrm>
          <a:prstGeom prst="rect">
            <a:avLst/>
          </a:prstGeom>
          <a:solidFill>
            <a:srgbClr val="1E2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791456"/>
            <a:ext cx="6858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800" b="0">
                <a:solidFill>
                  <a:srgbClr val="B4C8BE"/>
                </a:solidFill>
              </a:defRPr>
            </a:pPr>
            <a:r>
              <a:t>Uganda NDC Data Explorer  ·  Demo 17 June 2026  ·  Data: Climate TRACE API v7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92440" y="4791456"/>
            <a:ext cx="594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5000"/>
              </a:lnSpc>
              <a:defRPr sz="9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749808"/>
            <a:ext cx="8229600" cy="3913632"/>
          </a:xfrm>
          <a:prstGeom prst="rect">
            <a:avLst/>
          </a:prstGeom>
          <a:solidFill>
            <a:srgbClr val="F7F9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859536"/>
            <a:ext cx="79552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1100" b="1">
                <a:solidFill>
                  <a:srgbClr val="1E2A24"/>
                </a:solidFill>
              </a:defRPr>
            </a:pPr>
            <a:r>
              <a:t>Today: ministries assemble answers manually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1252728"/>
            <a:ext cx="1691640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" y="1252728"/>
            <a:ext cx="1691640" cy="54864"/>
          </a:xfrm>
          <a:prstGeom prst="rect">
            <a:avLst/>
          </a:prstGeom>
          <a:solidFill>
            <a:srgbClr val="39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1380744"/>
            <a:ext cx="1545336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1000" b="1">
                <a:solidFill>
                  <a:srgbClr val="1E2A24"/>
                </a:solidFill>
              </a:defRPr>
            </a:pPr>
            <a:r>
              <a:t>NDC PDFs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1655064"/>
            <a:ext cx="1545336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5F6E64"/>
                </a:solidFill>
              </a:defRPr>
            </a:pPr>
            <a:r>
              <a:t>Targets &amp; pledges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606040" y="1554480"/>
            <a:ext cx="182880" cy="201168"/>
          </a:xfrm>
          <a:prstGeom prst="rightArrow">
            <a:avLst/>
          </a:prstGeom>
          <a:solidFill>
            <a:srgbClr val="4882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788920" y="1252728"/>
            <a:ext cx="1691640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88920" y="1252728"/>
            <a:ext cx="1691640" cy="54864"/>
          </a:xfrm>
          <a:prstGeom prst="rect">
            <a:avLst/>
          </a:prstGeom>
          <a:solidFill>
            <a:srgbClr val="39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62072" y="1380744"/>
            <a:ext cx="1545336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1000" b="1">
                <a:solidFill>
                  <a:srgbClr val="1E2A24"/>
                </a:solidFill>
              </a:defRPr>
            </a:pPr>
            <a:r>
              <a:t>Spreadsheets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62072" y="1655064"/>
            <a:ext cx="1545336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5F6E64"/>
                </a:solidFill>
              </a:defRPr>
            </a:pPr>
            <a:r>
              <a:t>Sector data silos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480560" y="1554480"/>
            <a:ext cx="182880" cy="201168"/>
          </a:xfrm>
          <a:prstGeom prst="rightArrow">
            <a:avLst/>
          </a:prstGeom>
          <a:solidFill>
            <a:srgbClr val="4882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663440" y="1252728"/>
            <a:ext cx="1691640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63440" y="1252728"/>
            <a:ext cx="1691640" cy="54864"/>
          </a:xfrm>
          <a:prstGeom prst="rect">
            <a:avLst/>
          </a:prstGeom>
          <a:solidFill>
            <a:srgbClr val="39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36592" y="1380744"/>
            <a:ext cx="1545336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1000" b="1">
                <a:solidFill>
                  <a:srgbClr val="1E2A24"/>
                </a:solidFill>
              </a:defRPr>
            </a:pPr>
            <a:r>
              <a:t>Email / MRV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36592" y="1655064"/>
            <a:ext cx="1545336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5F6E64"/>
                </a:solidFill>
              </a:defRPr>
            </a:pPr>
            <a:r>
              <a:t>Fragmented evidence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6355080" y="1554480"/>
            <a:ext cx="182880" cy="201168"/>
          </a:xfrm>
          <a:prstGeom prst="rightArrow">
            <a:avLst/>
          </a:prstGeom>
          <a:solidFill>
            <a:srgbClr val="4882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537960" y="1252728"/>
            <a:ext cx="1691640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37960" y="1252728"/>
            <a:ext cx="1691640" cy="54864"/>
          </a:xfrm>
          <a:prstGeom prst="rect">
            <a:avLst/>
          </a:prstGeom>
          <a:solidFill>
            <a:srgbClr val="39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11112" y="1380744"/>
            <a:ext cx="1545336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1000" b="1">
                <a:solidFill>
                  <a:srgbClr val="1E2A24"/>
                </a:solidFill>
              </a:defRPr>
            </a:pPr>
            <a:r>
              <a:t>Weeks of work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11112" y="1655064"/>
            <a:ext cx="1545336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5F6E64"/>
                </a:solidFill>
              </a:defRPr>
            </a:pPr>
            <a:r>
              <a:t>Before any briefing</a:t>
            </a:r>
          </a:p>
        </p:txBody>
      </p:sp>
      <p:sp>
        <p:nvSpPr>
          <p:cNvPr id="29" name="Down Arrow 28"/>
          <p:cNvSpPr/>
          <p:nvPr/>
        </p:nvSpPr>
        <p:spPr>
          <a:xfrm>
            <a:off x="4471416" y="2258568"/>
            <a:ext cx="201168" cy="320040"/>
          </a:xfrm>
          <a:prstGeom prst="downArrow">
            <a:avLst/>
          </a:prstGeom>
          <a:solidFill>
            <a:srgbClr val="4882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2642616"/>
            <a:ext cx="8229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1000" b="1">
                <a:solidFill>
                  <a:srgbClr val="396B4F"/>
                </a:solidFill>
              </a:defRPr>
            </a:pPr>
            <a:r>
              <a:t>Five operational questions — unanswered in real time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9244" y="2971800"/>
            <a:ext cx="141732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9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4108" y="3136392"/>
            <a:ext cx="1307592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1E2A24"/>
                </a:solidFill>
              </a:defRPr>
            </a:pPr>
            <a:r>
              <a:t>Where are we today?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336292" y="2971800"/>
            <a:ext cx="141732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9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391156" y="3136392"/>
            <a:ext cx="1307592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1E2A24"/>
                </a:solidFill>
              </a:defRPr>
            </a:pPr>
            <a:r>
              <a:t>What moves the needle?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863340" y="2971800"/>
            <a:ext cx="141732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9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918204" y="3136392"/>
            <a:ext cx="1307592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1E2A24"/>
                </a:solidFill>
              </a:defRPr>
            </a:pPr>
            <a:r>
              <a:t>Policy impact?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390388" y="2971800"/>
            <a:ext cx="141732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9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45252" y="3136392"/>
            <a:ext cx="1307592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1E2A24"/>
                </a:solidFill>
              </a:defRPr>
            </a:pPr>
            <a:r>
              <a:t>Gaps vs target?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917436" y="2971800"/>
            <a:ext cx="141732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9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972300" y="3136392"/>
            <a:ext cx="1307592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1E2A24"/>
                </a:solidFill>
              </a:defRPr>
            </a:pPr>
            <a:r>
              <a:t>What to prioritise?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4160520"/>
            <a:ext cx="79552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900" b="0">
                <a:solidFill>
                  <a:srgbClr val="5F6E64"/>
                </a:solidFill>
              </a:defRPr>
            </a:pPr>
            <a:r>
              <a:t>Our answer: link Uganda's NDC layer to live observed emissions via the Climate TRACE API — not another static report.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28016"/>
            <a:ext cx="82296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2000" b="1">
                <a:solidFill>
                  <a:srgbClr val="FFFFFF"/>
                </a:solidFill>
              </a:defRPr>
            </a:pPr>
            <a:r>
              <a:t>Cockpit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02336"/>
            <a:ext cx="82296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1000" b="0">
                <a:solidFill>
                  <a:srgbClr val="B4C8BE"/>
                </a:solidFill>
              </a:defRPr>
            </a:pPr>
            <a:r>
              <a:t>Five linked columns — one decision workspace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736592"/>
            <a:ext cx="9144000" cy="370332"/>
          </a:xfrm>
          <a:prstGeom prst="rect">
            <a:avLst/>
          </a:prstGeom>
          <a:solidFill>
            <a:srgbClr val="1E2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791456"/>
            <a:ext cx="6858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800" b="0">
                <a:solidFill>
                  <a:srgbClr val="B4C8BE"/>
                </a:solidFill>
              </a:defRPr>
            </a:pPr>
            <a:r>
              <a:t>Uganda NDC Data Explorer  ·  Demo 17 June 2026  ·  Data: Climate TRACE API v7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92440" y="4791456"/>
            <a:ext cx="594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5000"/>
              </a:lnSpc>
              <a:defRPr sz="9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749808"/>
            <a:ext cx="8229600" cy="3246120"/>
          </a:xfrm>
          <a:prstGeom prst="rect">
            <a:avLst/>
          </a:prstGeom>
          <a:solidFill>
            <a:srgbClr val="F7F9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069848"/>
            <a:ext cx="141732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069848"/>
            <a:ext cx="1417320" cy="54864"/>
          </a:xfrm>
          <a:prstGeom prst="rect">
            <a:avLst/>
          </a:prstGeom>
          <a:solidFill>
            <a:srgbClr val="39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1197864"/>
            <a:ext cx="1271016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1000" b="1">
                <a:solidFill>
                  <a:srgbClr val="1E2A24"/>
                </a:solidFill>
              </a:defRPr>
            </a:pPr>
            <a:r>
              <a:t>1 · Targets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1472184"/>
            <a:ext cx="1271016" cy="7589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5F6E64"/>
                </a:solidFill>
              </a:defRPr>
            </a:pPr>
            <a:r>
              <a:t>NDC pledges</a:t>
            </a:r>
            <a:br/>
            <a:r>
              <a:t>Sector filters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194560" y="1581912"/>
            <a:ext cx="109728" cy="201168"/>
          </a:xfrm>
          <a:prstGeom prst="rightArrow">
            <a:avLst/>
          </a:prstGeom>
          <a:solidFill>
            <a:srgbClr val="4882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304288" y="1069848"/>
            <a:ext cx="141732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04288" y="1069848"/>
            <a:ext cx="1417320" cy="54864"/>
          </a:xfrm>
          <a:prstGeom prst="rect">
            <a:avLst/>
          </a:prstGeom>
          <a:solidFill>
            <a:srgbClr val="39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7440" y="1197864"/>
            <a:ext cx="1271016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1000" b="1">
                <a:solidFill>
                  <a:srgbClr val="1E2A24"/>
                </a:solidFill>
              </a:defRPr>
            </a:pPr>
            <a:r>
              <a:t>2 · Activities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1472184"/>
            <a:ext cx="1271016" cy="7589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5F6E64"/>
                </a:solidFill>
              </a:defRPr>
            </a:pPr>
            <a:r>
              <a:t>Measures &amp; owners</a:t>
            </a:r>
            <a:br/>
            <a:r>
              <a:t>Implementation catalog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3721608" y="1581912"/>
            <a:ext cx="109728" cy="201168"/>
          </a:xfrm>
          <a:prstGeom prst="rightArrow">
            <a:avLst/>
          </a:prstGeom>
          <a:solidFill>
            <a:srgbClr val="4882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831336" y="1069848"/>
            <a:ext cx="1417320" cy="1234440"/>
          </a:xfrm>
          <a:prstGeom prst="roundRect">
            <a:avLst/>
          </a:prstGeom>
          <a:solidFill>
            <a:srgbClr val="EBF5EE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831336" y="1069848"/>
            <a:ext cx="1417320" cy="54864"/>
          </a:xfrm>
          <a:prstGeom prst="rect">
            <a:avLst/>
          </a:prstGeom>
          <a:solidFill>
            <a:srgbClr val="2E7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04488" y="1197864"/>
            <a:ext cx="1271016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1000" b="1">
                <a:solidFill>
                  <a:srgbClr val="1E2A24"/>
                </a:solidFill>
              </a:defRPr>
            </a:pPr>
            <a:r>
              <a:t>3 · Observed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04488" y="1472184"/>
            <a:ext cx="1271016" cy="7589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5F6E64"/>
                </a:solidFill>
              </a:defRPr>
            </a:pPr>
            <a:r>
              <a:t>Climate TRACE API</a:t>
            </a:r>
            <a:br/>
            <a:r>
              <a:t>Live MtCO₂e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5248656" y="1581912"/>
            <a:ext cx="109728" cy="201168"/>
          </a:xfrm>
          <a:prstGeom prst="rightArrow">
            <a:avLst/>
          </a:prstGeom>
          <a:solidFill>
            <a:srgbClr val="4882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358384" y="1069848"/>
            <a:ext cx="141732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358384" y="1069848"/>
            <a:ext cx="1417320" cy="54864"/>
          </a:xfrm>
          <a:prstGeom prst="rect">
            <a:avLst/>
          </a:prstGeom>
          <a:solidFill>
            <a:srgbClr val="39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31536" y="1197864"/>
            <a:ext cx="1271016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1000" b="1">
                <a:solidFill>
                  <a:srgbClr val="1E2A24"/>
                </a:solidFill>
              </a:defRPr>
            </a:pPr>
            <a:r>
              <a:t>4 · Progress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31536" y="1472184"/>
            <a:ext cx="1271016" cy="7589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5F6E64"/>
                </a:solidFill>
              </a:defRPr>
            </a:pPr>
            <a:r>
              <a:t>On-track scoring</a:t>
            </a:r>
            <a:br/>
            <a:r>
              <a:t>Gap vs 2030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6775704" y="1581912"/>
            <a:ext cx="109728" cy="201168"/>
          </a:xfrm>
          <a:prstGeom prst="rightArrow">
            <a:avLst/>
          </a:prstGeom>
          <a:solidFill>
            <a:srgbClr val="4882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885432" y="1069848"/>
            <a:ext cx="141732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885432" y="1069848"/>
            <a:ext cx="1417320" cy="54864"/>
          </a:xfrm>
          <a:prstGeom prst="rect">
            <a:avLst/>
          </a:prstGeom>
          <a:solidFill>
            <a:srgbClr val="39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58584" y="1197864"/>
            <a:ext cx="1271016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1000" b="1">
                <a:solidFill>
                  <a:srgbClr val="1E2A24"/>
                </a:solidFill>
              </a:defRPr>
            </a:pPr>
            <a:r>
              <a:t>5 · Options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58584" y="1472184"/>
            <a:ext cx="1271016" cy="7589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5F6E64"/>
                </a:solidFill>
              </a:defRPr>
            </a:pPr>
            <a:r>
              <a:t>Mitigation paths</a:t>
            </a:r>
            <a:br/>
            <a:r>
              <a:t>Finance scenarios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2624327"/>
            <a:ext cx="1874519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" y="2624327"/>
            <a:ext cx="1874519" cy="54864"/>
          </a:xfrm>
          <a:prstGeom prst="rect">
            <a:avLst/>
          </a:prstGeom>
          <a:solidFill>
            <a:srgbClr val="4882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2" y="2752343"/>
            <a:ext cx="1728215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1000" b="1">
                <a:solidFill>
                  <a:srgbClr val="1E2A24"/>
                </a:solidFill>
              </a:defRPr>
            </a:pPr>
            <a:r>
              <a:t>Uganda NDC catalog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3232" y="3026663"/>
            <a:ext cx="1728215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5F6E64"/>
                </a:solidFill>
              </a:defRPr>
            </a:pPr>
            <a:r>
              <a:t>Curated targets &amp; strategies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697480" y="2624327"/>
            <a:ext cx="1874519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697480" y="2624327"/>
            <a:ext cx="1874519" cy="54864"/>
          </a:xfrm>
          <a:prstGeom prst="rect">
            <a:avLst/>
          </a:prstGeom>
          <a:solidFill>
            <a:srgbClr val="2E7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70632" y="2752343"/>
            <a:ext cx="1728215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1000" b="1">
                <a:solidFill>
                  <a:srgbClr val="1E2A24"/>
                </a:solidFill>
              </a:defRPr>
            </a:pPr>
            <a:r>
              <a:t>Climate TRACE v7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70632" y="3026663"/>
            <a:ext cx="1728215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5F6E64"/>
                </a:solidFill>
              </a:defRPr>
            </a:pPr>
            <a:r>
              <a:t>api.climatetrace.org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754880" y="2624327"/>
            <a:ext cx="1874519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754880" y="2624327"/>
            <a:ext cx="1874519" cy="54864"/>
          </a:xfrm>
          <a:prstGeom prst="rect">
            <a:avLst/>
          </a:prstGeom>
          <a:solidFill>
            <a:srgbClr val="4882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828032" y="2752343"/>
            <a:ext cx="1728215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1000" b="1">
                <a:solidFill>
                  <a:srgbClr val="1E2A24"/>
                </a:solidFill>
              </a:defRPr>
            </a:pPr>
            <a:r>
              <a:t>3D GIS map tab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28032" y="3026663"/>
            <a:ext cx="1728215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5F6E64"/>
                </a:solidFill>
              </a:defRPr>
            </a:pPr>
            <a:r>
              <a:t>Satellite terrain</a:t>
            </a:r>
            <a:br/>
            <a:r>
              <a:t>Emission bubbles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812280" y="2624327"/>
            <a:ext cx="1874519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812280" y="2624327"/>
            <a:ext cx="1874519" cy="54864"/>
          </a:xfrm>
          <a:prstGeom prst="rect">
            <a:avLst/>
          </a:prstGeom>
          <a:solidFill>
            <a:srgbClr val="B48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85432" y="2752343"/>
            <a:ext cx="1728215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1000" b="1">
                <a:solidFill>
                  <a:srgbClr val="1E2A24"/>
                </a:solidFill>
              </a:defRPr>
            </a:pPr>
            <a:r>
              <a:t>NDC AI chatbot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85432" y="3026663"/>
            <a:ext cx="1728215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5F6E64"/>
                </a:solidFill>
              </a:defRPr>
            </a:pPr>
            <a:r>
              <a:t>Grounded briefing</a:t>
            </a:r>
            <a:br/>
            <a:r>
              <a:t>OpenAI + citations</a:t>
            </a:r>
          </a:p>
        </p:txBody>
      </p:sp>
      <p:cxnSp>
        <p:nvCxnSpPr>
          <p:cNvPr id="49" name="Connector 48"/>
          <p:cNvCxnSpPr/>
          <p:nvPr/>
        </p:nvCxnSpPr>
        <p:spPr>
          <a:xfrm flipV="1">
            <a:off x="1554480" y="2304288"/>
            <a:ext cx="0" cy="320039"/>
          </a:xfrm>
          <a:prstGeom prst="line">
            <a:avLst/>
          </a:prstGeom>
          <a:ln w="19050">
            <a:solidFill>
              <a:srgbClr val="4882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3611880" y="2304288"/>
            <a:ext cx="0" cy="320039"/>
          </a:xfrm>
          <a:prstGeom prst="line">
            <a:avLst/>
          </a:prstGeom>
          <a:ln w="19050">
            <a:solidFill>
              <a:srgbClr val="4882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5669280" y="2304288"/>
            <a:ext cx="0" cy="320039"/>
          </a:xfrm>
          <a:prstGeom prst="line">
            <a:avLst/>
          </a:prstGeom>
          <a:ln w="19050">
            <a:solidFill>
              <a:srgbClr val="4882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594360" y="3630168"/>
            <a:ext cx="79552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900" b="0">
                <a:solidFill>
                  <a:srgbClr val="1E2A24"/>
                </a:solidFill>
              </a:defRPr>
            </a:pPr>
            <a:r>
              <a:t>Observed column + Emissions Map + NDC AI share one Climate TRACE pipeline — charts, 3D GIS bubbles, and chat answers cite the same live API data.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28016"/>
            <a:ext cx="82296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2000" b="1">
                <a:solidFill>
                  <a:srgbClr val="FFFFFF"/>
                </a:solidFill>
              </a:defRPr>
            </a:pPr>
            <a:r>
              <a:t>Climate TRACE data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02336"/>
            <a:ext cx="82296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1000" b="0">
                <a:solidFill>
                  <a:srgbClr val="B4C8BE"/>
                </a:solidFill>
              </a:defRPr>
            </a:pPr>
            <a:r>
              <a:t>Live observed emissions — API v7 (CC BY 4.0)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736592"/>
            <a:ext cx="9144000" cy="370332"/>
          </a:xfrm>
          <a:prstGeom prst="rect">
            <a:avLst/>
          </a:prstGeom>
          <a:solidFill>
            <a:srgbClr val="1E2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791456"/>
            <a:ext cx="6858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800" b="0">
                <a:solidFill>
                  <a:srgbClr val="B4C8BE"/>
                </a:solidFill>
              </a:defRPr>
            </a:pPr>
            <a:r>
              <a:t>Uganda NDC Data Explorer  ·  Demo 17 June 2026  ·  Data: Climate TRACE API v7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92440" y="4791456"/>
            <a:ext cx="594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5000"/>
              </a:lnSpc>
              <a:defRPr sz="9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749808"/>
            <a:ext cx="8229600" cy="3913632"/>
          </a:xfrm>
          <a:prstGeom prst="rect">
            <a:avLst/>
          </a:prstGeom>
          <a:solidFill>
            <a:srgbClr val="F7F9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841248"/>
            <a:ext cx="18288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800" b="1">
                <a:solidFill>
                  <a:srgbClr val="5F6E64"/>
                </a:solidFill>
              </a:defRPr>
            </a:pPr>
            <a:r>
              <a:t>EMISSIONS SOURCES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097280"/>
            <a:ext cx="1783080" cy="658368"/>
          </a:xfrm>
          <a:prstGeom prst="roundRect">
            <a:avLst/>
          </a:prstGeom>
          <a:solidFill>
            <a:srgbClr val="E6F2F8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097280"/>
            <a:ext cx="1783080" cy="54864"/>
          </a:xfrm>
          <a:prstGeom prst="rect">
            <a:avLst/>
          </a:prstGeom>
          <a:solidFill>
            <a:srgbClr val="2E7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225296"/>
            <a:ext cx="1636776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1000" b="1">
                <a:solidFill>
                  <a:srgbClr val="1E2A24"/>
                </a:solidFill>
              </a:defRPr>
            </a:pPr>
            <a:r>
              <a:t>Satellite EO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499616"/>
            <a:ext cx="1636776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5F6E64"/>
                </a:solidFill>
              </a:defRPr>
            </a:pPr>
            <a:r>
              <a:t>Land &amp; power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1847088"/>
            <a:ext cx="1783080" cy="658368"/>
          </a:xfrm>
          <a:prstGeom prst="roundRect">
            <a:avLst/>
          </a:prstGeom>
          <a:solidFill>
            <a:srgbClr val="E6F2F8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1847088"/>
            <a:ext cx="1783080" cy="54864"/>
          </a:xfrm>
          <a:prstGeom prst="rect">
            <a:avLst/>
          </a:prstGeom>
          <a:solidFill>
            <a:srgbClr val="2E7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1975104"/>
            <a:ext cx="1636776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1000" b="1">
                <a:solidFill>
                  <a:srgbClr val="1E2A24"/>
                </a:solidFill>
              </a:defRPr>
            </a:pPr>
            <a:r>
              <a:t>Facility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249424"/>
            <a:ext cx="1636776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5F6E64"/>
                </a:solidFill>
              </a:defRPr>
            </a:pPr>
            <a:r>
              <a:t>Power &amp; industry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2596896"/>
            <a:ext cx="1783080" cy="658368"/>
          </a:xfrm>
          <a:prstGeom prst="roundRect">
            <a:avLst/>
          </a:prstGeom>
          <a:solidFill>
            <a:srgbClr val="E6F2F8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2596896"/>
            <a:ext cx="1783080" cy="54864"/>
          </a:xfrm>
          <a:prstGeom prst="rect">
            <a:avLst/>
          </a:prstGeom>
          <a:solidFill>
            <a:srgbClr val="2E7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2724912"/>
            <a:ext cx="1636776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1000" b="1">
                <a:solidFill>
                  <a:srgbClr val="1E2A24"/>
                </a:solidFill>
              </a:defRPr>
            </a:pPr>
            <a:r>
              <a:t>Transport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2999232"/>
            <a:ext cx="1636776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5F6E64"/>
                </a:solidFill>
              </a:defRPr>
            </a:pPr>
            <a:r>
              <a:t>Road &amp; aviation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3346704"/>
            <a:ext cx="1783080" cy="658368"/>
          </a:xfrm>
          <a:prstGeom prst="roundRect">
            <a:avLst/>
          </a:prstGeom>
          <a:solidFill>
            <a:srgbClr val="E6F2F8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3346704"/>
            <a:ext cx="1783080" cy="54864"/>
          </a:xfrm>
          <a:prstGeom prst="rect">
            <a:avLst/>
          </a:prstGeom>
          <a:solidFill>
            <a:srgbClr val="2E7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474720"/>
            <a:ext cx="1636776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1000" b="1">
                <a:solidFill>
                  <a:srgbClr val="1E2A24"/>
                </a:solidFill>
              </a:defRPr>
            </a:pPr>
            <a:r>
              <a:t>AFOLU models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749040"/>
            <a:ext cx="1636776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5F6E64"/>
                </a:solidFill>
              </a:defRPr>
            </a:pPr>
            <a:r>
              <a:t>Land use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88920" y="1252728"/>
            <a:ext cx="306324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7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788920" y="1252728"/>
            <a:ext cx="3063240" cy="384048"/>
          </a:xfrm>
          <a:prstGeom prst="rect">
            <a:avLst/>
          </a:prstGeom>
          <a:solidFill>
            <a:srgbClr val="2E7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898648" y="1325880"/>
            <a:ext cx="2843784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1300" b="1">
                <a:solidFill>
                  <a:srgbClr val="FFFFFF"/>
                </a:solidFill>
              </a:defRPr>
            </a:pPr>
            <a:r>
              <a:t>Climate TRACE API v7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80" y="1728216"/>
            <a:ext cx="2788920" cy="1874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800" b="0">
                <a:solidFill>
                  <a:srgbClr val="1E2A24"/>
                </a:solidFill>
              </a:defRPr>
            </a:pPr>
            <a:r>
              <a:t>•  GET /v7/sources/emissions — sector timeseries</a:t>
            </a:r>
            <a:br/>
            <a:r>
              <a:t>•  GET /v7/sources — asset-level map points</a:t>
            </a:r>
            <a:br/>
            <a:r>
              <a:t>•  GET /v7/rankings/countries — national totals</a:t>
            </a:r>
            <a:br/>
            <a:r>
              <a:t>•  GADM2 districts — Uganda disaggregation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26080" y="3328416"/>
            <a:ext cx="27889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700" b="0">
                <a:solidFill>
                  <a:srgbClr val="2E78A0"/>
                </a:solidFill>
              </a:defRPr>
            </a:pPr>
            <a:r>
              <a:t>https://api.climatetrace.org/v7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350007" y="1426464"/>
            <a:ext cx="438913" cy="1014984"/>
          </a:xfrm>
          <a:prstGeom prst="line">
            <a:avLst/>
          </a:prstGeom>
          <a:ln w="19050">
            <a:solidFill>
              <a:srgbClr val="4882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2350007" y="2176272"/>
            <a:ext cx="438913" cy="265176"/>
          </a:xfrm>
          <a:prstGeom prst="line">
            <a:avLst/>
          </a:prstGeom>
          <a:ln w="19050">
            <a:solidFill>
              <a:srgbClr val="4882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2350007" y="2441448"/>
            <a:ext cx="438913" cy="484632"/>
          </a:xfrm>
          <a:prstGeom prst="line">
            <a:avLst/>
          </a:prstGeom>
          <a:ln w="19050">
            <a:solidFill>
              <a:srgbClr val="4882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2350007" y="2441448"/>
            <a:ext cx="438913" cy="1234440"/>
          </a:xfrm>
          <a:prstGeom prst="line">
            <a:avLst/>
          </a:prstGeom>
          <a:ln w="19050">
            <a:solidFill>
              <a:srgbClr val="4882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6263640" y="1097280"/>
            <a:ext cx="2240280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63640" y="1097280"/>
            <a:ext cx="2240280" cy="54864"/>
          </a:xfrm>
          <a:prstGeom prst="rect">
            <a:avLst/>
          </a:prstGeom>
          <a:solidFill>
            <a:srgbClr val="39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36792" y="1225296"/>
            <a:ext cx="2093976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1000" b="1">
                <a:solidFill>
                  <a:srgbClr val="1E2A24"/>
                </a:solidFill>
              </a:defRPr>
            </a:pPr>
            <a:r>
              <a:t>Express API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36792" y="1499616"/>
            <a:ext cx="2093976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5F6E64"/>
                </a:solidFill>
              </a:defRPr>
            </a:pPr>
            <a:r>
              <a:t>Node.js backend</a:t>
            </a:r>
            <a:br/>
            <a:r>
              <a:t>Cache &amp; provenance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5852160" y="1399032"/>
            <a:ext cx="384048" cy="201168"/>
          </a:xfrm>
          <a:prstGeom prst="rightArrow">
            <a:avLst/>
          </a:prstGeom>
          <a:solidFill>
            <a:srgbClr val="4882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263640" y="2029968"/>
            <a:ext cx="2240280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63640" y="2029968"/>
            <a:ext cx="2240280" cy="54864"/>
          </a:xfrm>
          <a:prstGeom prst="rect">
            <a:avLst/>
          </a:prstGeom>
          <a:solidFill>
            <a:srgbClr val="39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36792" y="2157984"/>
            <a:ext cx="2093976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1000" b="1">
                <a:solidFill>
                  <a:srgbClr val="1E2A24"/>
                </a:solidFill>
              </a:defRPr>
            </a:pPr>
            <a:r>
              <a:t>Postgres / seed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36792" y="2432304"/>
            <a:ext cx="2093976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5F6E64"/>
                </a:solidFill>
              </a:defRPr>
            </a:pPr>
            <a:r>
              <a:t>MtCO₂e store</a:t>
            </a:r>
            <a:br/>
            <a:r>
              <a:t>/api/v1/provenance</a:t>
            </a:r>
          </a:p>
        </p:txBody>
      </p:sp>
      <p:sp>
        <p:nvSpPr>
          <p:cNvPr id="44" name="Right Arrow 43"/>
          <p:cNvSpPr/>
          <p:nvPr/>
        </p:nvSpPr>
        <p:spPr>
          <a:xfrm>
            <a:off x="5852160" y="2331720"/>
            <a:ext cx="384048" cy="201168"/>
          </a:xfrm>
          <a:prstGeom prst="rightArrow">
            <a:avLst/>
          </a:prstGeom>
          <a:solidFill>
            <a:srgbClr val="4882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263640" y="2962656"/>
            <a:ext cx="2240280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263640" y="2962656"/>
            <a:ext cx="2240280" cy="54864"/>
          </a:xfrm>
          <a:prstGeom prst="rect">
            <a:avLst/>
          </a:prstGeom>
          <a:solidFill>
            <a:srgbClr val="39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36792" y="3090672"/>
            <a:ext cx="2093976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1000" b="1">
                <a:solidFill>
                  <a:srgbClr val="1E2A24"/>
                </a:solidFill>
              </a:defRPr>
            </a:pPr>
            <a:r>
              <a:t>React cockpit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36792" y="3364992"/>
            <a:ext cx="2093976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5F6E64"/>
                </a:solidFill>
              </a:defRPr>
            </a:pPr>
            <a:r>
              <a:t>Dashboard · 3D GIS</a:t>
            </a:r>
            <a:br/>
            <a:r>
              <a:t>NDC AI chatbot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5852160" y="3264408"/>
            <a:ext cx="384048" cy="201168"/>
          </a:xfrm>
          <a:prstGeom prst="rightArrow">
            <a:avLst/>
          </a:prstGeom>
          <a:solidFill>
            <a:srgbClr val="4882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6928" y="4096512"/>
            <a:ext cx="8010144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800" b="0">
                <a:solidFill>
                  <a:srgbClr val="5F6E64"/>
                </a:solidFill>
              </a:defRPr>
            </a:pPr>
            <a:r>
              <a:t>In the app: every observed chart shows Climate TRACE provenance — click a bar to trace the source. Not a national inventory replacement; open observed layer for briefing.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28016"/>
            <a:ext cx="82296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2000" b="1">
                <a:solidFill>
                  <a:srgbClr val="FFFFFF"/>
                </a:solidFill>
              </a:defRPr>
            </a:pPr>
            <a:r>
              <a:t>Live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02336"/>
            <a:ext cx="82296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1000" b="0">
                <a:solidFill>
                  <a:srgbClr val="B4C8BE"/>
                </a:solidFill>
              </a:defRPr>
            </a:pPr>
            <a:r>
              <a:t>NDC Dashboard — observed emissions linked to targets</a:t>
            </a:r>
          </a:p>
        </p:txBody>
      </p:sp>
      <p:pic>
        <p:nvPicPr>
          <p:cNvPr id="5" name="Picture 4" descr="dashboard-trans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216" y="749808"/>
            <a:ext cx="6957568" cy="391363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4736592"/>
            <a:ext cx="9144000" cy="370332"/>
          </a:xfrm>
          <a:prstGeom prst="rect">
            <a:avLst/>
          </a:prstGeom>
          <a:solidFill>
            <a:srgbClr val="1E2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791456"/>
            <a:ext cx="6858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800" b="0">
                <a:solidFill>
                  <a:srgbClr val="B4C8BE"/>
                </a:solidFill>
              </a:defRPr>
            </a:pPr>
            <a:r>
              <a:t>Uganda NDC Data Explorer  ·  Demo 17 June 2026  ·  Data: Climate TRACE API v7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92440" y="4791456"/>
            <a:ext cx="594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5000"/>
              </a:lnSpc>
              <a:defRPr sz="900" b="1">
                <a:solidFill>
                  <a:srgbClr val="FFFFFF"/>
                </a:solidFill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28016"/>
            <a:ext cx="82296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2000" b="1">
                <a:solidFill>
                  <a:srgbClr val="FFFFFF"/>
                </a:solidFill>
              </a:defRPr>
            </a:pPr>
            <a:r>
              <a:t>NDC AI &amp; 3D GIS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02336"/>
            <a:ext cx="82296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1000" b="0">
                <a:solidFill>
                  <a:srgbClr val="B4C8BE"/>
                </a:solidFill>
              </a:defRPr>
            </a:pPr>
            <a:r>
              <a:t>Intelligence and spatial views on Climate TRACE data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736592"/>
            <a:ext cx="9144000" cy="370332"/>
          </a:xfrm>
          <a:prstGeom prst="rect">
            <a:avLst/>
          </a:prstGeom>
          <a:solidFill>
            <a:srgbClr val="1E2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791456"/>
            <a:ext cx="6858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800" b="0">
                <a:solidFill>
                  <a:srgbClr val="B4C8BE"/>
                </a:solidFill>
              </a:defRPr>
            </a:pPr>
            <a:r>
              <a:t>Uganda NDC Data Explorer  ·  Demo 17 June 2026  ·  Data: Climate TRACE API v7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92440" y="4791456"/>
            <a:ext cx="594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5000"/>
              </a:lnSpc>
              <a:defRPr sz="900" b="1">
                <a:solidFill>
                  <a:srgbClr val="FFFFFF"/>
                </a:solidFill>
              </a:defRPr>
            </a:pPr>
            <a:r>
              <a:t>06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749808"/>
            <a:ext cx="8229600" cy="3913632"/>
          </a:xfrm>
          <a:prstGeom prst="rect">
            <a:avLst/>
          </a:prstGeom>
          <a:solidFill>
            <a:srgbClr val="F7F9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859536"/>
            <a:ext cx="402336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7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859536"/>
            <a:ext cx="4023360" cy="329184"/>
          </a:xfrm>
          <a:prstGeom prst="rect">
            <a:avLst/>
          </a:prstGeom>
          <a:solidFill>
            <a:srgbClr val="2E7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914400"/>
            <a:ext cx="3803904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1100" b="1">
                <a:solidFill>
                  <a:srgbClr val="FFFFFF"/>
                </a:solidFill>
              </a:defRPr>
            </a:pPr>
            <a:r>
              <a:t>3D GIS representation — Emissions Map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298448"/>
            <a:ext cx="1234440" cy="713232"/>
          </a:xfrm>
          <a:prstGeom prst="roundRect">
            <a:avLst/>
          </a:prstGeom>
          <a:solidFill>
            <a:srgbClr val="E6F2F8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4360" y="1298448"/>
            <a:ext cx="1234440" cy="54864"/>
          </a:xfrm>
          <a:prstGeom prst="rect">
            <a:avLst/>
          </a:prstGeom>
          <a:solidFill>
            <a:srgbClr val="2E7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1426464"/>
            <a:ext cx="1088136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1000" b="1">
                <a:solidFill>
                  <a:srgbClr val="1E2A24"/>
                </a:solidFill>
              </a:defRPr>
            </a:pPr>
            <a:r>
              <a:t>Climate TRACE</a:t>
            </a:r>
            <a:br/>
            <a:r>
              <a:t>/v7/sources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" y="1700784"/>
            <a:ext cx="1088136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5F6E64"/>
                </a:solidFill>
              </a:defRPr>
            </a:pPr>
            <a:r>
              <a:t>Asset geo-points</a:t>
            </a:r>
            <a:br/>
            <a:r>
              <a:t>per sector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1828800" y="1554480"/>
            <a:ext cx="91440" cy="201168"/>
          </a:xfrm>
          <a:prstGeom prst="rightArrow">
            <a:avLst/>
          </a:prstGeom>
          <a:solidFill>
            <a:srgbClr val="4882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920240" y="1298448"/>
            <a:ext cx="1234440" cy="713232"/>
          </a:xfrm>
          <a:prstGeom prst="roundRect">
            <a:avLst/>
          </a:prstGeom>
          <a:solidFill>
            <a:srgbClr val="E6F2F8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920240" y="1298448"/>
            <a:ext cx="1234440" cy="54864"/>
          </a:xfrm>
          <a:prstGeom prst="rect">
            <a:avLst/>
          </a:prstGeom>
          <a:solidFill>
            <a:srgbClr val="2E7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93392" y="1426464"/>
            <a:ext cx="1088136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1000" b="1">
                <a:solidFill>
                  <a:srgbClr val="1E2A24"/>
                </a:solidFill>
              </a:defRPr>
            </a:pPr>
            <a:r>
              <a:t>MapLibre GL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93392" y="1700784"/>
            <a:ext cx="1088136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5F6E64"/>
                </a:solidFill>
              </a:defRPr>
            </a:pPr>
            <a:r>
              <a:t>Satellite imagery</a:t>
            </a:r>
            <a:br/>
            <a:r>
              <a:t>Terrain DEM 3D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3154680" y="1554480"/>
            <a:ext cx="91440" cy="201168"/>
          </a:xfrm>
          <a:prstGeom prst="rightArrow">
            <a:avLst/>
          </a:prstGeom>
          <a:solidFill>
            <a:srgbClr val="4882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246120" y="1298448"/>
            <a:ext cx="1234440" cy="713232"/>
          </a:xfrm>
          <a:prstGeom prst="roundRect">
            <a:avLst/>
          </a:prstGeom>
          <a:solidFill>
            <a:srgbClr val="E6F2F8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46120" y="1298448"/>
            <a:ext cx="1234440" cy="54864"/>
          </a:xfrm>
          <a:prstGeom prst="rect">
            <a:avLst/>
          </a:prstGeom>
          <a:solidFill>
            <a:srgbClr val="2E7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19272" y="1426464"/>
            <a:ext cx="1088136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1000" b="1">
                <a:solidFill>
                  <a:srgbClr val="1E2A24"/>
                </a:solidFill>
              </a:defRPr>
            </a:pPr>
            <a:r>
              <a:t>GIS bubbles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19272" y="1700784"/>
            <a:ext cx="1088136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5F6E64"/>
                </a:solidFill>
              </a:defRPr>
            </a:pPr>
            <a:r>
              <a:t>Size ∝ MtCO₂e</a:t>
            </a:r>
            <a:br/>
            <a:r>
              <a:t>District overlay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2121408"/>
            <a:ext cx="3749040" cy="1874520"/>
          </a:xfrm>
          <a:prstGeom prst="roundRect">
            <a:avLst/>
          </a:prstGeom>
          <a:solidFill>
            <a:srgbClr val="0C1018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map-ugan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664" y="2157984"/>
            <a:ext cx="3202432" cy="1801368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4663440" y="859536"/>
            <a:ext cx="402336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9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663440" y="859536"/>
            <a:ext cx="4023360" cy="329184"/>
          </a:xfrm>
          <a:prstGeom prst="rect">
            <a:avLst/>
          </a:prstGeom>
          <a:solidFill>
            <a:srgbClr val="39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73168" y="914400"/>
            <a:ext cx="3803904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1100" b="1">
                <a:solidFill>
                  <a:srgbClr val="FFFFFF"/>
                </a:solidFill>
              </a:defRPr>
            </a:pPr>
            <a:r>
              <a:t>NDC AI chatbot — dashboard sidebar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800600" y="1298448"/>
            <a:ext cx="1234440" cy="713232"/>
          </a:xfrm>
          <a:prstGeom prst="roundRect">
            <a:avLst/>
          </a:prstGeom>
          <a:solidFill>
            <a:srgbClr val="EBF5EE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800600" y="1298448"/>
            <a:ext cx="1234440" cy="54864"/>
          </a:xfrm>
          <a:prstGeom prst="rect">
            <a:avLst/>
          </a:prstGeom>
          <a:solidFill>
            <a:srgbClr val="39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73752" y="1426464"/>
            <a:ext cx="1088136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1000" b="1">
                <a:solidFill>
                  <a:srgbClr val="1E2A24"/>
                </a:solidFill>
              </a:defRPr>
            </a:pPr>
            <a:r>
              <a:t>User question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73752" y="1700784"/>
            <a:ext cx="1088136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5F6E64"/>
                </a:solidFill>
              </a:defRPr>
            </a:pPr>
            <a:r>
              <a:t>Plain language</a:t>
            </a:r>
            <a:br/>
            <a:r>
              <a:t>'Transport on track?'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6035040" y="1554480"/>
            <a:ext cx="91440" cy="201168"/>
          </a:xfrm>
          <a:prstGeom prst="rightArrow">
            <a:avLst/>
          </a:prstGeom>
          <a:solidFill>
            <a:srgbClr val="4882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126480" y="1298448"/>
            <a:ext cx="1234440" cy="713232"/>
          </a:xfrm>
          <a:prstGeom prst="roundRect">
            <a:avLst/>
          </a:prstGeom>
          <a:solidFill>
            <a:srgbClr val="EBF5EE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26480" y="1298448"/>
            <a:ext cx="1234440" cy="54864"/>
          </a:xfrm>
          <a:prstGeom prst="rect">
            <a:avLst/>
          </a:prstGeom>
          <a:solidFill>
            <a:srgbClr val="39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99632" y="1426464"/>
            <a:ext cx="1088136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1000" b="1">
                <a:solidFill>
                  <a:srgbClr val="1E2A24"/>
                </a:solidFill>
              </a:defRPr>
            </a:pPr>
            <a:r>
              <a:t>Context pack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99632" y="1700784"/>
            <a:ext cx="1088136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5F6E64"/>
                </a:solidFill>
              </a:defRPr>
            </a:pPr>
            <a:r>
              <a:t>Sector · target</a:t>
            </a:r>
            <a:br/>
            <a:r>
              <a:t>TRACE progress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7360920" y="1554480"/>
            <a:ext cx="91440" cy="201168"/>
          </a:xfrm>
          <a:prstGeom prst="rightArrow">
            <a:avLst/>
          </a:prstGeom>
          <a:solidFill>
            <a:srgbClr val="4882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452360" y="1298448"/>
            <a:ext cx="1234440" cy="713232"/>
          </a:xfrm>
          <a:prstGeom prst="roundRect">
            <a:avLst/>
          </a:prstGeom>
          <a:solidFill>
            <a:srgbClr val="EBF5EE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452360" y="1298448"/>
            <a:ext cx="1234440" cy="54864"/>
          </a:xfrm>
          <a:prstGeom prst="rect">
            <a:avLst/>
          </a:prstGeom>
          <a:solidFill>
            <a:srgbClr val="39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25512" y="1426464"/>
            <a:ext cx="1088136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1000" b="1">
                <a:solidFill>
                  <a:srgbClr val="1E2A24"/>
                </a:solidFill>
              </a:defRPr>
            </a:pPr>
            <a:r>
              <a:t>OpenAI API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525512" y="1700784"/>
            <a:ext cx="1088136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5F6E64"/>
                </a:solidFill>
              </a:defRPr>
            </a:pPr>
            <a:r>
              <a:t>Grounded answer</a:t>
            </a:r>
            <a:br/>
            <a:r>
              <a:t>With citations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800600" y="2121408"/>
            <a:ext cx="3749040" cy="1874520"/>
          </a:xfrm>
          <a:prstGeom prst="roundRect">
            <a:avLst/>
          </a:prstGeom>
          <a:solidFill>
            <a:srgbClr val="F8FAF9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919472" y="2249424"/>
            <a:ext cx="3520440" cy="1691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800" b="0">
                <a:solidFill>
                  <a:srgbClr val="1E2A24"/>
                </a:solidFill>
              </a:defRPr>
            </a:pPr>
            <a:r>
              <a:t>▸  Opens from Progress column → NDC AI button</a:t>
            </a:r>
            <a:br/>
            <a:r>
              <a:t>▸  Tab key fills an example question</a:t>
            </a:r>
            <a:br/>
            <a:r>
              <a:t>▸  Answers cite Climate TRACE + NDC panels</a:t>
            </a:r>
            <a:br/>
            <a:r>
              <a:t>▸  Senior Decision-Maker briefing mode</a:t>
            </a:r>
            <a:br/>
            <a:r>
              <a:t>▸  Not a generic chatbot — country-specific context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4224528"/>
            <a:ext cx="801014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5F6E64"/>
                </a:solidFill>
              </a:defRPr>
            </a:pPr>
            <a:r>
              <a:t>Both modules sit on the same Climate TRACE API v7 feed — spatial GIS for where emissions occur, NDC AI for why it matters against Uganda's pledges.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28016"/>
            <a:ext cx="82296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2000" b="1">
                <a:solidFill>
                  <a:srgbClr val="FFFFFF"/>
                </a:solidFill>
              </a:defRPr>
            </a:pPr>
            <a:r>
              <a:t>From satellite to decision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02336"/>
            <a:ext cx="82296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1000" b="0">
                <a:solidFill>
                  <a:srgbClr val="B4C8BE"/>
                </a:solidFill>
              </a:defRPr>
            </a:pPr>
            <a:r>
              <a:t>How observed data reaches the dashboard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736592"/>
            <a:ext cx="9144000" cy="370332"/>
          </a:xfrm>
          <a:prstGeom prst="rect">
            <a:avLst/>
          </a:prstGeom>
          <a:solidFill>
            <a:srgbClr val="1E2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791456"/>
            <a:ext cx="6858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800" b="0">
                <a:solidFill>
                  <a:srgbClr val="B4C8BE"/>
                </a:solidFill>
              </a:defRPr>
            </a:pPr>
            <a:r>
              <a:t>Uganda NDC Data Explorer  ·  Demo 17 June 2026  ·  Data: Climate TRACE API v7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92440" y="4791456"/>
            <a:ext cx="594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5000"/>
              </a:lnSpc>
              <a:defRPr sz="900" b="1">
                <a:solidFill>
                  <a:srgbClr val="FFFFFF"/>
                </a:solidFill>
              </a:defRPr>
            </a:pPr>
            <a: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978408"/>
            <a:ext cx="17830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8952" y="978408"/>
            <a:ext cx="1783080" cy="54864"/>
          </a:xfrm>
          <a:prstGeom prst="rect">
            <a:avLst/>
          </a:prstGeom>
          <a:solidFill>
            <a:srgbClr val="39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" y="1106424"/>
            <a:ext cx="1636776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1000" b="1">
                <a:solidFill>
                  <a:srgbClr val="1E2A24"/>
                </a:solidFill>
              </a:defRPr>
            </a:pPr>
            <a:r>
              <a:t>Climate TRACE</a:t>
            </a:r>
            <a:br/>
            <a:r>
              <a:t>ingests signals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" y="1380744"/>
            <a:ext cx="1636776" cy="4846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5F6E64"/>
                </a:solidFill>
              </a:defRPr>
            </a:pPr>
            <a:r>
              <a:t>Monthly updates</a:t>
            </a:r>
            <a:br/>
            <a:r>
              <a:t>100+ countries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542032" y="1357884"/>
            <a:ext cx="164592" cy="201168"/>
          </a:xfrm>
          <a:prstGeom prst="rightArrow">
            <a:avLst/>
          </a:prstGeom>
          <a:solidFill>
            <a:srgbClr val="4882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706624" y="978408"/>
            <a:ext cx="17830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06624" y="978408"/>
            <a:ext cx="1783080" cy="54864"/>
          </a:xfrm>
          <a:prstGeom prst="rect">
            <a:avLst/>
          </a:prstGeom>
          <a:solidFill>
            <a:srgbClr val="39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776" y="1106424"/>
            <a:ext cx="1636776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1000" b="1">
                <a:solidFill>
                  <a:srgbClr val="1E2A24"/>
                </a:solidFill>
              </a:defRPr>
            </a:pPr>
            <a:r>
              <a:t>API v7 serves</a:t>
            </a:r>
            <a:br/>
            <a:r>
              <a:t>Uganda sectors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79776" y="1380744"/>
            <a:ext cx="1636776" cy="4846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5F6E64"/>
                </a:solidFill>
              </a:defRPr>
            </a:pPr>
            <a:r>
              <a:t>Transport · Energy</a:t>
            </a:r>
            <a:br/>
            <a:r>
              <a:t>AFOLU · Waste…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489704" y="1357884"/>
            <a:ext cx="164592" cy="201168"/>
          </a:xfrm>
          <a:prstGeom prst="rightArrow">
            <a:avLst/>
          </a:prstGeom>
          <a:solidFill>
            <a:srgbClr val="4882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654296" y="978408"/>
            <a:ext cx="17830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654296" y="978408"/>
            <a:ext cx="1783080" cy="54864"/>
          </a:xfrm>
          <a:prstGeom prst="rect">
            <a:avLst/>
          </a:prstGeom>
          <a:solidFill>
            <a:srgbClr val="39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27448" y="1106424"/>
            <a:ext cx="1636776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1000" b="1">
                <a:solidFill>
                  <a:srgbClr val="1E2A24"/>
                </a:solidFill>
              </a:defRPr>
            </a:pPr>
            <a:r>
              <a:t>App reconciles</a:t>
            </a:r>
            <a:br/>
            <a:r>
              <a:t>vs NDC targets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27448" y="1380744"/>
            <a:ext cx="1636776" cy="4846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5F6E64"/>
                </a:solidFill>
              </a:defRPr>
            </a:pPr>
            <a:r>
              <a:t>Progress % · gaps</a:t>
            </a:r>
            <a:br/>
            <a:r>
              <a:t>District views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437376" y="1357884"/>
            <a:ext cx="164592" cy="201168"/>
          </a:xfrm>
          <a:prstGeom prst="rightArrow">
            <a:avLst/>
          </a:prstGeom>
          <a:solidFill>
            <a:srgbClr val="4882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601968" y="978408"/>
            <a:ext cx="17830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601968" y="978408"/>
            <a:ext cx="1783080" cy="54864"/>
          </a:xfrm>
          <a:prstGeom prst="rect">
            <a:avLst/>
          </a:prstGeom>
          <a:solidFill>
            <a:srgbClr val="39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20" y="1106424"/>
            <a:ext cx="1636776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1000" b="1">
                <a:solidFill>
                  <a:srgbClr val="1E2A24"/>
                </a:solidFill>
              </a:defRPr>
            </a:pPr>
            <a:r>
              <a:t>Decision-maker</a:t>
            </a:r>
            <a:br/>
            <a:r>
              <a:t>briefing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1380744"/>
            <a:ext cx="1636776" cy="4846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5F6E64"/>
                </a:solidFill>
              </a:defRPr>
            </a:pPr>
            <a:r>
              <a:t>Dashboard · Map</a:t>
            </a:r>
            <a:br/>
            <a:r>
              <a:t>NDC AI · Finance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" y="2167128"/>
            <a:ext cx="3840480" cy="23591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map-ugan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2307717"/>
            <a:ext cx="3694176" cy="2077974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4617720" y="2167128"/>
            <a:ext cx="3931920" cy="23591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9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0" y="2304288"/>
            <a:ext cx="3657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1100" b="1">
                <a:solidFill>
                  <a:srgbClr val="396B4F"/>
                </a:solidFill>
              </a:defRPr>
            </a:pPr>
            <a:r>
              <a:t>What users see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54880" y="2624328"/>
            <a:ext cx="3657600" cy="18105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900" b="0">
                <a:solidFill>
                  <a:srgbClr val="1E2A24"/>
                </a:solidFill>
              </a:defRPr>
            </a:pPr>
            <a:r>
              <a:t>▸  Live Climate TRACE banner on dashboard</a:t>
            </a:r>
            <a:br/>
            <a:br/>
            <a:r>
              <a:t>▸  Sector timeseries charts (MtCO₂e)</a:t>
            </a:r>
            <a:br/>
            <a:br/>
            <a:r>
              <a:t>▸  3D GIS map — satellite terrain + emission bubbles</a:t>
            </a:r>
            <a:br/>
            <a:br/>
            <a:r>
              <a:t>▸  NDC AI chatbot — grounded briefing with citations</a:t>
            </a:r>
            <a:br/>
            <a:br/>
            <a:r>
              <a:t>▸  Progress ring vs 2030 NDC pledge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28016"/>
            <a:ext cx="82296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2000" b="1">
                <a:solidFill>
                  <a:srgbClr val="FFFFFF"/>
                </a:solidFill>
              </a:defRPr>
            </a:pPr>
            <a:r>
              <a:t>Policy &amp; finance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02336"/>
            <a:ext cx="82296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1000" b="0">
                <a:solidFill>
                  <a:srgbClr val="B4C8BE"/>
                </a:solidFill>
              </a:defRPr>
            </a:pPr>
            <a:r>
              <a:t>From evidence to investment scenarios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736592"/>
            <a:ext cx="9144000" cy="370332"/>
          </a:xfrm>
          <a:prstGeom prst="rect">
            <a:avLst/>
          </a:prstGeom>
          <a:solidFill>
            <a:srgbClr val="1E2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791456"/>
            <a:ext cx="6858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800" b="0">
                <a:solidFill>
                  <a:srgbClr val="B4C8BE"/>
                </a:solidFill>
              </a:defRPr>
            </a:pPr>
            <a:r>
              <a:t>Uganda NDC Data Explorer  ·  Demo 17 June 2026  ·  Data: Climate TRACE API v7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92440" y="4791456"/>
            <a:ext cx="594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5000"/>
              </a:lnSpc>
              <a:defRPr sz="900" b="1">
                <a:solidFill>
                  <a:srgbClr val="FFFFFF"/>
                </a:solidFill>
              </a:defRPr>
            </a:pPr>
            <a: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749808"/>
            <a:ext cx="4005072" cy="3593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ocuments-pathw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" y="804672"/>
            <a:ext cx="3895344" cy="219113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681728" y="749808"/>
            <a:ext cx="4005072" cy="3593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limate-fin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6592" y="804672"/>
            <a:ext cx="3895344" cy="2191131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54380" y="4279392"/>
            <a:ext cx="233172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4380" y="4279392"/>
            <a:ext cx="2331720" cy="54864"/>
          </a:xfrm>
          <a:prstGeom prst="rect">
            <a:avLst/>
          </a:prstGeom>
          <a:solidFill>
            <a:srgbClr val="39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" y="4407408"/>
            <a:ext cx="2185416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1000" b="1">
                <a:solidFill>
                  <a:srgbClr val="1E2A24"/>
                </a:solidFill>
              </a:defRPr>
            </a:pPr>
            <a:r>
              <a:t>Climate TRACE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" y="4681728"/>
            <a:ext cx="2185416" cy="27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5F6E64"/>
                </a:solidFill>
              </a:defRPr>
            </a:pPr>
            <a:r>
              <a:t>Observed gaps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086100" y="4430268"/>
            <a:ext cx="320040" cy="201168"/>
          </a:xfrm>
          <a:prstGeom prst="rightArrow">
            <a:avLst/>
          </a:prstGeom>
          <a:solidFill>
            <a:srgbClr val="4882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06140" y="4279392"/>
            <a:ext cx="233172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6140" y="4279392"/>
            <a:ext cx="2331720" cy="54864"/>
          </a:xfrm>
          <a:prstGeom prst="rect">
            <a:avLst/>
          </a:prstGeom>
          <a:solidFill>
            <a:srgbClr val="39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9292" y="4407408"/>
            <a:ext cx="2185416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1000" b="1">
                <a:solidFill>
                  <a:srgbClr val="1E2A24"/>
                </a:solidFill>
              </a:defRPr>
            </a:pPr>
            <a:r>
              <a:t>Policy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9292" y="4681728"/>
            <a:ext cx="2185416" cy="27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5F6E64"/>
                </a:solidFill>
              </a:defRPr>
            </a:pPr>
            <a:r>
              <a:t>Intervention map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5737860" y="4430268"/>
            <a:ext cx="320040" cy="201168"/>
          </a:xfrm>
          <a:prstGeom prst="rightArrow">
            <a:avLst/>
          </a:prstGeom>
          <a:solidFill>
            <a:srgbClr val="4882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057900" y="4279392"/>
            <a:ext cx="233172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57900" y="4279392"/>
            <a:ext cx="2331720" cy="54864"/>
          </a:xfrm>
          <a:prstGeom prst="rect">
            <a:avLst/>
          </a:prstGeom>
          <a:solidFill>
            <a:srgbClr val="39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31052" y="4407408"/>
            <a:ext cx="2185416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1000" b="1">
                <a:solidFill>
                  <a:srgbClr val="1E2A24"/>
                </a:solidFill>
              </a:defRPr>
            </a:pPr>
            <a:r>
              <a:t>Finance MAC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31052" y="4681728"/>
            <a:ext cx="2185416" cy="27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5F6E64"/>
                </a:solidFill>
              </a:defRPr>
            </a:pPr>
            <a:r>
              <a:t>Abatement cost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28016"/>
            <a:ext cx="82296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2000" b="1">
                <a:solidFill>
                  <a:srgbClr val="FFFFFF"/>
                </a:solidFill>
              </a:defRPr>
            </a:pPr>
            <a:r>
              <a:t>5-minute demo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02336"/>
            <a:ext cx="82296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1000" b="0">
                <a:solidFill>
                  <a:srgbClr val="B4C8BE"/>
                </a:solidFill>
              </a:defRPr>
            </a:pPr>
            <a:r>
              <a:t>Presenter flow — Uganda · Transport sector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736592"/>
            <a:ext cx="9144000" cy="370332"/>
          </a:xfrm>
          <a:prstGeom prst="rect">
            <a:avLst/>
          </a:prstGeom>
          <a:solidFill>
            <a:srgbClr val="1E2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791456"/>
            <a:ext cx="6858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800" b="0">
                <a:solidFill>
                  <a:srgbClr val="B4C8BE"/>
                </a:solidFill>
              </a:defRPr>
            </a:pPr>
            <a:r>
              <a:t>Uganda NDC Data Explorer  ·  Demo 17 June 2026  ·  Data: Climate TRACE API v7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92440" y="4791456"/>
            <a:ext cx="594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5000"/>
              </a:lnSpc>
              <a:defRPr sz="900" b="1">
                <a:solidFill>
                  <a:srgbClr val="FFFFFF"/>
                </a:solidFill>
              </a:defRPr>
            </a:pPr>
            <a:r>
              <a:t>09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749808"/>
            <a:ext cx="8229600" cy="3913632"/>
          </a:xfrm>
          <a:prstGeom prst="rect">
            <a:avLst/>
          </a:prstGeom>
          <a:solidFill>
            <a:srgbClr val="F7F9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1069848"/>
            <a:ext cx="14173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9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069848"/>
            <a:ext cx="1417320" cy="256032"/>
          </a:xfrm>
          <a:prstGeom prst="rect">
            <a:avLst/>
          </a:prstGeom>
          <a:solidFill>
            <a:srgbClr val="39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106424"/>
            <a:ext cx="141732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900" b="1">
                <a:solidFill>
                  <a:srgbClr val="FFFFFF"/>
                </a:solidFill>
              </a:defRPr>
            </a:pPr>
            <a:r>
              <a:t>0:00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" y="1380744"/>
            <a:ext cx="130759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900" b="1">
                <a:solidFill>
                  <a:srgbClr val="1E2A24"/>
                </a:solidFill>
              </a:defRPr>
            </a:pPr>
            <a:r>
              <a:t>Dashboard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" y="1636776"/>
            <a:ext cx="1307592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700" b="0">
                <a:solidFill>
                  <a:srgbClr val="5F6E64"/>
                </a:solidFill>
              </a:defRPr>
            </a:pPr>
            <a:r>
              <a:t>Transport sector</a:t>
            </a:r>
            <a:br/>
            <a:r>
              <a:t>Climate TRACE data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057400" y="1495044"/>
            <a:ext cx="128016" cy="201168"/>
          </a:xfrm>
          <a:prstGeom prst="rightArrow">
            <a:avLst/>
          </a:prstGeom>
          <a:solidFill>
            <a:srgbClr val="4882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185416" y="1069848"/>
            <a:ext cx="14173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9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185416" y="1069848"/>
            <a:ext cx="1417320" cy="256032"/>
          </a:xfrm>
          <a:prstGeom prst="rect">
            <a:avLst/>
          </a:prstGeom>
          <a:solidFill>
            <a:srgbClr val="39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85416" y="1106424"/>
            <a:ext cx="141732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900" b="1">
                <a:solidFill>
                  <a:srgbClr val="FFFFFF"/>
                </a:solidFill>
              </a:defRPr>
            </a:pPr>
            <a:r>
              <a:t>1:00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40280" y="1380744"/>
            <a:ext cx="130759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900" b="1">
                <a:solidFill>
                  <a:srgbClr val="1E2A24"/>
                </a:solidFill>
              </a:defRPr>
            </a:pPr>
            <a:r>
              <a:t>3D GIS map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40280" y="1636776"/>
            <a:ext cx="1307592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700" b="0">
                <a:solidFill>
                  <a:srgbClr val="5F6E64"/>
                </a:solidFill>
              </a:defRPr>
            </a:pPr>
            <a:r>
              <a:t>Emissions Map tab</a:t>
            </a:r>
            <a:br/>
            <a:r>
              <a:t>Satellite · bubbles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3602736" y="1495044"/>
            <a:ext cx="128016" cy="201168"/>
          </a:xfrm>
          <a:prstGeom prst="rightArrow">
            <a:avLst/>
          </a:prstGeom>
          <a:solidFill>
            <a:srgbClr val="4882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730752" y="1069848"/>
            <a:ext cx="14173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9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30752" y="1069848"/>
            <a:ext cx="1417320" cy="256032"/>
          </a:xfrm>
          <a:prstGeom prst="rect">
            <a:avLst/>
          </a:prstGeom>
          <a:solidFill>
            <a:srgbClr val="39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30752" y="1106424"/>
            <a:ext cx="141732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900" b="1">
                <a:solidFill>
                  <a:srgbClr val="FFFFFF"/>
                </a:solidFill>
              </a:defRPr>
            </a:pPr>
            <a:r>
              <a:t>1:45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85616" y="1380744"/>
            <a:ext cx="130759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900" b="1">
                <a:solidFill>
                  <a:srgbClr val="1E2A24"/>
                </a:solidFill>
              </a:defRPr>
            </a:pPr>
            <a:r>
              <a:t>Documents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85616" y="1636776"/>
            <a:ext cx="1307592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700" b="0">
                <a:solidFill>
                  <a:srgbClr val="5F6E64"/>
                </a:solidFill>
              </a:defRPr>
            </a:pPr>
            <a:r>
              <a:t>Policy pathway</a:t>
            </a:r>
            <a:br/>
            <a:r>
              <a:t>NDC linkage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5148072" y="1495044"/>
            <a:ext cx="128016" cy="201168"/>
          </a:xfrm>
          <a:prstGeom prst="rightArrow">
            <a:avLst/>
          </a:prstGeom>
          <a:solidFill>
            <a:srgbClr val="4882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276088" y="1069848"/>
            <a:ext cx="14173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9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276088" y="1069848"/>
            <a:ext cx="1417320" cy="256032"/>
          </a:xfrm>
          <a:prstGeom prst="rect">
            <a:avLst/>
          </a:prstGeom>
          <a:solidFill>
            <a:srgbClr val="39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76088" y="1106424"/>
            <a:ext cx="141732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900" b="1">
                <a:solidFill>
                  <a:srgbClr val="FFFFFF"/>
                </a:solidFill>
              </a:defRPr>
            </a:pPr>
            <a:r>
              <a:t>2:10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30952" y="1380744"/>
            <a:ext cx="130759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900" b="1">
                <a:solidFill>
                  <a:srgbClr val="1E2A24"/>
                </a:solidFill>
              </a:defRPr>
            </a:pPr>
            <a:r>
              <a:t>Finance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30952" y="1636776"/>
            <a:ext cx="1307592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700" b="0">
                <a:solidFill>
                  <a:srgbClr val="5F6E64"/>
                </a:solidFill>
              </a:defRPr>
            </a:pPr>
            <a:r>
              <a:t>Cost &amp; abatement</a:t>
            </a:r>
            <a:br/>
            <a:r>
              <a:t>MAC chart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6693408" y="1495044"/>
            <a:ext cx="128016" cy="201168"/>
          </a:xfrm>
          <a:prstGeom prst="rightArrow">
            <a:avLst/>
          </a:prstGeom>
          <a:solidFill>
            <a:srgbClr val="4882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1424" y="1069848"/>
            <a:ext cx="14173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9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821424" y="1069848"/>
            <a:ext cx="1417320" cy="256032"/>
          </a:xfrm>
          <a:prstGeom prst="rect">
            <a:avLst/>
          </a:prstGeom>
          <a:solidFill>
            <a:srgbClr val="39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21424" y="1106424"/>
            <a:ext cx="141732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900" b="1">
                <a:solidFill>
                  <a:srgbClr val="FFFFFF"/>
                </a:solidFill>
              </a:defRPr>
            </a:pPr>
            <a:r>
              <a:t>2:40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76288" y="1380744"/>
            <a:ext cx="130759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900" b="1">
                <a:solidFill>
                  <a:srgbClr val="1E2A24"/>
                </a:solidFill>
              </a:defRPr>
            </a:pPr>
            <a:r>
              <a:t>NDC AI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76288" y="1636776"/>
            <a:ext cx="1307592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700" b="0">
                <a:solidFill>
                  <a:srgbClr val="5F6E64"/>
                </a:solidFill>
              </a:defRPr>
            </a:pPr>
            <a:r>
              <a:t>Chatbot briefing</a:t>
            </a:r>
            <a:br/>
            <a:r>
              <a:t>Tab → ask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2350008"/>
            <a:ext cx="78638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1000" b="1">
                <a:solidFill>
                  <a:srgbClr val="396B4F"/>
                </a:solidFill>
              </a:defRPr>
            </a:pPr>
            <a:r>
              <a:t>Punchline: from reporting to decision support — one operational system for NDC delivery.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80" y="2807208"/>
            <a:ext cx="25146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0080" y="2807208"/>
            <a:ext cx="2514600" cy="54864"/>
          </a:xfrm>
          <a:prstGeom prst="rect">
            <a:avLst/>
          </a:prstGeom>
          <a:solidFill>
            <a:srgbClr val="39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13232" y="2935224"/>
            <a:ext cx="2368296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1000" b="1">
                <a:solidFill>
                  <a:srgbClr val="1E2A24"/>
                </a:solidFill>
              </a:defRPr>
            </a:pPr>
            <a:r>
              <a:t>Challenges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3232" y="3209544"/>
            <a:ext cx="2368296" cy="3931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5F6E64"/>
                </a:solidFill>
              </a:defRPr>
            </a:pPr>
            <a:r>
              <a:t>Mixed sources · API warm-up</a:t>
            </a:r>
            <a:br/>
            <a:r>
              <a:t>Not UNFCCC submission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337560" y="2807208"/>
            <a:ext cx="25146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337560" y="2807208"/>
            <a:ext cx="2514600" cy="54864"/>
          </a:xfrm>
          <a:prstGeom prst="rect">
            <a:avLst/>
          </a:prstGeom>
          <a:solidFill>
            <a:srgbClr val="39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410712" y="2935224"/>
            <a:ext cx="2368296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1000" b="1">
                <a:solidFill>
                  <a:srgbClr val="1E2A24"/>
                </a:solidFill>
              </a:defRPr>
            </a:pPr>
            <a:r>
              <a:t>Future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10712" y="3209544"/>
            <a:ext cx="2368296" cy="3931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5F6E64"/>
                </a:solidFill>
              </a:defRPr>
            </a:pPr>
            <a:r>
              <a:t>Policy corpus per country</a:t>
            </a:r>
            <a:br/>
            <a:r>
              <a:t>Mobile MRV app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035040" y="2807208"/>
            <a:ext cx="25146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035040" y="2807208"/>
            <a:ext cx="2514600" cy="54864"/>
          </a:xfrm>
          <a:prstGeom prst="rect">
            <a:avLst/>
          </a:prstGeom>
          <a:solidFill>
            <a:srgbClr val="39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08192" y="2935224"/>
            <a:ext cx="2368296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1000" b="1">
                <a:solidFill>
                  <a:srgbClr val="1E2A24"/>
                </a:solidFill>
              </a:defRPr>
            </a:pPr>
            <a:r>
              <a:t>Live URL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08192" y="3209544"/>
            <a:ext cx="2368296" cy="3931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5F6E64"/>
                </a:solidFill>
              </a:defRPr>
            </a:pPr>
            <a:r>
              <a:t>ndc-data-explorer-e051f914.vercel.app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28016"/>
            <a:ext cx="82296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2000" b="1">
                <a:solidFill>
                  <a:srgbClr val="FFFFFF"/>
                </a:solidFill>
              </a:defRPr>
            </a:pPr>
            <a:r>
              <a:t>Challenges &amp; mitigations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02336"/>
            <a:ext cx="82296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1000" b="0">
                <a:solidFill>
                  <a:srgbClr val="B4C8BE"/>
                </a:solidFill>
              </a:defRPr>
            </a:pPr>
            <a:r>
              <a:t>Honest limits of a prototype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736592"/>
            <a:ext cx="9144000" cy="370332"/>
          </a:xfrm>
          <a:prstGeom prst="rect">
            <a:avLst/>
          </a:prstGeom>
          <a:solidFill>
            <a:srgbClr val="1E2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791456"/>
            <a:ext cx="6858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800" b="0">
                <a:solidFill>
                  <a:srgbClr val="B4C8BE"/>
                </a:solidFill>
              </a:defRPr>
            </a:pPr>
            <a:r>
              <a:t>Uganda NDC Data Explorer  ·  Demo 17 June 2026  ·  Data: Climate TRACE API v7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92440" y="4791456"/>
            <a:ext cx="594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5000"/>
              </a:lnSpc>
              <a:defRPr sz="900" b="1">
                <a:solidFill>
                  <a:srgbClr val="FFFFFF"/>
                </a:solidFill>
              </a:defRPr>
            </a:pPr>
            <a: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749808"/>
            <a:ext cx="82296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841248"/>
            <a:ext cx="219456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1000" b="1">
                <a:solidFill>
                  <a:srgbClr val="1E2A24"/>
                </a:solidFill>
              </a:defRPr>
            </a:pPr>
            <a:r>
              <a:t>Climate TRACE ≠ inventory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8920" y="841248"/>
            <a:ext cx="576072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900" b="0">
                <a:solidFill>
                  <a:srgbClr val="5F6E64"/>
                </a:solidFill>
              </a:defRPr>
            </a:pPr>
            <a:r>
              <a:t>Open observed layer; label provenance clearly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335024"/>
            <a:ext cx="82296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426464"/>
            <a:ext cx="219456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1000" b="1">
                <a:solidFill>
                  <a:srgbClr val="1E2A24"/>
                </a:solidFill>
              </a:defRPr>
            </a:pPr>
            <a:r>
              <a:t>API cold starts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1426464"/>
            <a:ext cx="576072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900" b="0">
                <a:solidFill>
                  <a:srgbClr val="5F6E64"/>
                </a:solidFill>
              </a:defRPr>
            </a:pPr>
            <a:r>
              <a:t>Pre-warm dashboard, 3D GIS map, and NDC AI before stage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920240"/>
            <a:ext cx="82296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011680"/>
            <a:ext cx="219456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1000" b="1">
                <a:solidFill>
                  <a:srgbClr val="1E2A24"/>
                </a:solidFill>
              </a:defRPr>
            </a:pPr>
            <a:r>
              <a:t>NDC AI availability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88920" y="2011680"/>
            <a:ext cx="576072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900" b="0">
                <a:solidFill>
                  <a:srgbClr val="5F6E64"/>
                </a:solidFill>
              </a:defRPr>
            </a:pPr>
            <a:r>
              <a:t>Requires OPENAI_API_KEY on API server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505456"/>
            <a:ext cx="82296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2596896"/>
            <a:ext cx="219456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1000" b="1">
                <a:solidFill>
                  <a:srgbClr val="1E2A24"/>
                </a:solidFill>
              </a:defRPr>
            </a:pPr>
            <a:r>
              <a:t>Mixed data sources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88920" y="2596896"/>
            <a:ext cx="576072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900" b="0">
                <a:solidFill>
                  <a:srgbClr val="5F6E64"/>
                </a:solidFill>
              </a:defRPr>
            </a:pPr>
            <a:r>
              <a:t>Curated NDC catalog + live API panels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090672"/>
            <a:ext cx="82296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182112"/>
            <a:ext cx="219456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1000" b="1">
                <a:solidFill>
                  <a:srgbClr val="1E2A24"/>
                </a:solidFill>
              </a:defRPr>
            </a:pPr>
            <a:r>
              <a:t>Official reporting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88920" y="3182112"/>
            <a:ext cx="576072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900" b="0">
                <a:solidFill>
                  <a:srgbClr val="5F6E64"/>
                </a:solidFill>
              </a:defRPr>
            </a:pPr>
            <a:r>
              <a:t>Briefing tool — not UNFCCC submission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28016"/>
            <a:ext cx="82296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2000" b="1">
                <a:solidFill>
                  <a:srgbClr val="FFFFFF"/>
                </a:solidFill>
              </a:defRPr>
            </a:pPr>
            <a:r>
              <a:t>Future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02336"/>
            <a:ext cx="82296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1000" b="0">
                <a:solidFill>
                  <a:srgbClr val="B4C8BE"/>
                </a:solidFill>
              </a:defRPr>
            </a:pPr>
            <a:r>
              <a:t>Scaling beyond Uganda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736592"/>
            <a:ext cx="9144000" cy="370332"/>
          </a:xfrm>
          <a:prstGeom prst="rect">
            <a:avLst/>
          </a:prstGeom>
          <a:solidFill>
            <a:srgbClr val="1E2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791456"/>
            <a:ext cx="6858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800" b="0">
                <a:solidFill>
                  <a:srgbClr val="B4C8BE"/>
                </a:solidFill>
              </a:defRPr>
            </a:pPr>
            <a:r>
              <a:t>Uganda NDC Data Explorer  ·  Demo 17 June 2026  ·  Data: Climate TRACE API v7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92440" y="4791456"/>
            <a:ext cx="594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5000"/>
              </a:lnSpc>
              <a:defRPr sz="900" b="1">
                <a:solidFill>
                  <a:srgbClr val="FFFFFF"/>
                </a:solidFill>
              </a:defRPr>
            </a:pPr>
            <a: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749808"/>
            <a:ext cx="2609088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749808"/>
            <a:ext cx="2609088" cy="347472"/>
          </a:xfrm>
          <a:prstGeom prst="rect">
            <a:avLst/>
          </a:prstGeom>
          <a:solidFill>
            <a:srgbClr val="39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813816"/>
            <a:ext cx="238963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1100" b="1">
                <a:solidFill>
                  <a:srgbClr val="FFFFFF"/>
                </a:solidFill>
              </a:defRPr>
            </a:pPr>
            <a:r>
              <a:t>Policy paper database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188720"/>
            <a:ext cx="2389632" cy="24140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900" b="0">
                <a:solidFill>
                  <a:srgbClr val="1E2A24"/>
                </a:solidFill>
              </a:defRPr>
            </a:pPr>
            <a:r>
              <a:t>Searchable national policy corpus per country.</a:t>
            </a:r>
            <a:br/>
            <a:br/>
            <a:r>
              <a:t>Full-text search linked to NDC targets and Climate TRACE sectors.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67456" y="749808"/>
            <a:ext cx="2609088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67456" y="749808"/>
            <a:ext cx="2609088" cy="347472"/>
          </a:xfrm>
          <a:prstGeom prst="rect">
            <a:avLst/>
          </a:prstGeom>
          <a:solidFill>
            <a:srgbClr val="39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77184" y="813816"/>
            <a:ext cx="238963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1100" b="1">
                <a:solidFill>
                  <a:srgbClr val="FFFFFF"/>
                </a:solidFill>
              </a:defRPr>
            </a:pPr>
            <a:r>
              <a:t>Mobile application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77184" y="1188720"/>
            <a:ext cx="2389632" cy="24140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900" b="0">
                <a:solidFill>
                  <a:srgbClr val="1E2A24"/>
                </a:solidFill>
              </a:defRPr>
            </a:pPr>
            <a:r>
              <a:t>Field MRV capture and district briefings.</a:t>
            </a:r>
            <a:br/>
            <a:br/>
            <a:r>
              <a:t>Offline views when API is unavailable.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77712" y="749808"/>
            <a:ext cx="2609088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77712" y="749808"/>
            <a:ext cx="2609088" cy="347472"/>
          </a:xfrm>
          <a:prstGeom prst="rect">
            <a:avLst/>
          </a:prstGeom>
          <a:solidFill>
            <a:srgbClr val="39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87440" y="813816"/>
            <a:ext cx="238963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1100" b="1">
                <a:solidFill>
                  <a:srgbClr val="FFFFFF"/>
                </a:solidFill>
              </a:defRPr>
            </a:pPr>
            <a:r>
              <a:t>Multi-country scale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7440" y="1188720"/>
            <a:ext cx="2389632" cy="24140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900" b="0">
                <a:solidFill>
                  <a:srgbClr val="1E2A24"/>
                </a:solidFill>
              </a:defRPr>
            </a:pPr>
            <a:r>
              <a:t>Replicate cockpit for other NDCs.</a:t>
            </a:r>
            <a:br/>
            <a:br/>
            <a:r>
              <a:t>Shared Climate TRACE v7 pipeline; country strategy layers.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315968"/>
            <a:ext cx="82296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900" b="0">
                <a:solidFill>
                  <a:srgbClr val="5F6E64"/>
                </a:solidFill>
              </a:defRPr>
            </a:pPr>
            <a:r>
              <a:t>Questions?  ·  https://ndc-data-explorer-e051f914.vercel.app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