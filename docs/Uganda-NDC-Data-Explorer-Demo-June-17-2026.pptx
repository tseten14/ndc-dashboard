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9144000" cy="1440180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3200" b="1">
                <a:solidFill>
                  <a:srgbClr val="FFFFFF"/>
                </a:solidFill>
              </a:defRPr>
            </a:pPr>
            <a:r>
              <a:t>Uganda NDC Data Explorer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400" b="0">
                <a:solidFill>
                  <a:srgbClr val="B4C8BE"/>
                </a:solidFill>
              </a:defRPr>
            </a:pPr>
            <a:r>
              <a:t>Decision-support cockpit for NDC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0">
                <a:solidFill>
                  <a:srgbClr val="FFFFFF"/>
                </a:solidFill>
              </a:defRPr>
            </a:pPr>
            <a:r>
              <a:t>Date: 17 June 2026</a:t>
            </a:r>
            <a:br/>
            <a:r>
              <a:t>Presented by: Tseten Sherpa  ·  [Team member]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Uganda NDC Data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One workspace for climate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2609088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859536"/>
            <a:ext cx="256032" cy="256032"/>
          </a:xfrm>
          <a:prstGeom prst="ellipse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877824"/>
            <a:ext cx="25603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841248"/>
            <a:ext cx="20604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1E2A24"/>
                </a:solidFill>
              </a:defRPr>
            </a:pPr>
            <a:r>
              <a:t>NDC Layer (Home)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188720"/>
            <a:ext cx="2389632" cy="27157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Five linked columns:</a:t>
            </a:r>
            <a:br/>
            <a:r>
              <a:t>Targets → Activities → Observed data → Progress → Mitigation options.</a:t>
            </a:r>
            <a:br/>
            <a:br/>
            <a:r>
              <a:t>Filter by sector and geography.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7456" y="749808"/>
            <a:ext cx="2609088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77184" y="859536"/>
            <a:ext cx="256032" cy="256032"/>
          </a:xfrm>
          <a:prstGeom prst="ellipse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7184" y="877824"/>
            <a:ext cx="25603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6368" y="841248"/>
            <a:ext cx="20604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1E2A24"/>
                </a:solidFill>
              </a:defRPr>
            </a:pPr>
            <a:r>
              <a:t>Delivery cockpit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7184" y="1188720"/>
            <a:ext cx="2389632" cy="27157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Executive Overview</a:t>
            </a:r>
            <a:br/>
            <a:r>
              <a:t>Delivery &amp; Accountability</a:t>
            </a:r>
            <a:br/>
            <a:r>
              <a:t>Evidence &amp; MRV</a:t>
            </a:r>
            <a:br/>
            <a:r>
              <a:t>Finance &amp; Investment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7712" y="749808"/>
            <a:ext cx="2609088" cy="3246120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87440" y="859536"/>
            <a:ext cx="256032" cy="256032"/>
          </a:xfrm>
          <a:prstGeom prst="ellipse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440" y="877824"/>
            <a:ext cx="256032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624" y="841248"/>
            <a:ext cx="206044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1E2A24"/>
                </a:solidFill>
              </a:defRPr>
            </a:pPr>
            <a:r>
              <a:t>Climate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440" y="1188720"/>
            <a:ext cx="2389632" cy="27157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District hotspots</a:t>
            </a:r>
            <a:br/>
            <a:r>
              <a:t>Screening map</a:t>
            </a:r>
            <a:br/>
            <a:r>
              <a:t>Drill-down</a:t>
            </a:r>
            <a:br/>
            <a:br/>
            <a:r>
              <a:t>Connect adaptation risk to programme geography.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96512"/>
            <a:ext cx="8229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From NDC commitments to delivery, evidence, and risk — in one place.</a:t>
            </a:r>
            <a:br/>
            <a:r>
              <a:t>Supports coordination and briefing; does not replace official UNFCCC submissions.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Motivation &amp; user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Uganda NDC Data Explorer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2609088" cy="391363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749808"/>
            <a:ext cx="2609088" cy="34747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813816"/>
            <a:ext cx="2389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88720"/>
            <a:ext cx="2389632" cy="3401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NDC targets, strategies, indicators, and MRV evidence live in PDFs and siloed spreadsheets.</a:t>
            </a:r>
            <a:br/>
            <a:br/>
            <a:r>
              <a:t>Hard to answer:</a:t>
            </a:r>
            <a:br/>
            <a:r>
              <a:t>• Are we on track?</a:t>
            </a:r>
            <a:br/>
            <a:r>
              <a:t>• What must change?</a:t>
            </a:r>
            <a:br/>
            <a:r>
              <a:t>• Who owns what?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7456" y="749808"/>
            <a:ext cx="2609088" cy="391363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7456" y="749808"/>
            <a:ext cx="2609088" cy="34747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7184" y="813816"/>
            <a:ext cx="2389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84" y="1188720"/>
            <a:ext cx="2389632" cy="3401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A web cockpit linking:</a:t>
            </a:r>
            <a:br/>
            <a:r>
              <a:t>• What Uganda committed</a:t>
            </a:r>
            <a:br/>
            <a:r>
              <a:t>• What is being delivered</a:t>
            </a:r>
            <a:br/>
            <a:r>
              <a:t>• What evidence exists</a:t>
            </a:r>
            <a:br/>
            <a:r>
              <a:t>• How progress looks</a:t>
            </a:r>
            <a:br/>
            <a:br/>
            <a:r>
              <a:t>Optional Climate TRACE observed signals.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7712" y="749808"/>
            <a:ext cx="2609088" cy="391363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77712" y="749808"/>
            <a:ext cx="2609088" cy="34747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7440" y="813816"/>
            <a:ext cx="2389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User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440" y="1188720"/>
            <a:ext cx="2389632" cy="3401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Ministry staff — coordinated delivery</a:t>
            </a:r>
            <a:br/>
            <a:br/>
            <a:r>
              <a:t>MRV focal points — indicators in one place</a:t>
            </a:r>
            <a:br/>
            <a:br/>
            <a:r>
              <a:t>Decision-makers — executive tiles &amp; risk hotspots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Uganda NDC Data Explorer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8229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841248"/>
            <a:ext cx="1417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7672" y="841248"/>
            <a:ext cx="3063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Vite + React +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841248"/>
            <a:ext cx="3602736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UI, maps, charts, exports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8229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463040"/>
            <a:ext cx="1417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672" y="1463040"/>
            <a:ext cx="3063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Supabase Auth + Postgres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1463040"/>
            <a:ext cx="3602736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Sign-in, activities, indicators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93392"/>
            <a:ext cx="8229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084832"/>
            <a:ext cx="1417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Emissions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47672" y="2084832"/>
            <a:ext cx="3063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Express + Climate TRACE v6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2084832"/>
            <a:ext cx="3602736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Timeseries, provenance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15184"/>
            <a:ext cx="8229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706624"/>
            <a:ext cx="1417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Uganda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47672" y="2706624"/>
            <a:ext cx="3063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Curated NDC / strategy layers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10912" y="2706624"/>
            <a:ext cx="3602736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Targets, districts,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36976"/>
            <a:ext cx="82296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328416"/>
            <a:ext cx="1417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Demo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3328416"/>
            <a:ext cx="3063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USE_MOCK_DATA=true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0912" y="3328416"/>
            <a:ext cx="3602736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Reliable demo without live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Climate TRACE: CC BY 4.0 · National sectors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Where the application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Repository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8229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822960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1">
                <a:solidFill>
                  <a:srgbClr val="396B4F"/>
                </a:solidFill>
              </a:defRPr>
            </a:pPr>
            <a:r>
              <a:t>NDCLayer.tsx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822960"/>
            <a:ext cx="47548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Home — five-column cockpit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8229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99032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1">
                <a:solidFill>
                  <a:srgbClr val="396B4F"/>
                </a:solidFill>
              </a:defRPr>
            </a:pPr>
            <a:r>
              <a:t>ExecutiveOverview.tsx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399032"/>
            <a:ext cx="47548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Leadership tiles + what must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01952"/>
            <a:ext cx="8229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75104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1">
                <a:solidFill>
                  <a:srgbClr val="396B4F"/>
                </a:solidFill>
              </a:defRPr>
            </a:pPr>
            <a:r>
              <a:t>pages/risk/*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1975104"/>
            <a:ext cx="47548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Map, screening, drilldown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78024"/>
            <a:ext cx="8229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51176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1">
                <a:solidFill>
                  <a:srgbClr val="396B4F"/>
                </a:solidFill>
              </a:defRPr>
            </a:pPr>
            <a:r>
              <a:t>server.js / emissions.js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551176"/>
            <a:ext cx="47548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API: timeseries, progress, provenance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54096"/>
            <a:ext cx="8229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27248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1">
                <a:solidFill>
                  <a:srgbClr val="396B4F"/>
                </a:solidFill>
              </a:defRPr>
            </a:pPr>
            <a:r>
              <a:t>database/migrations/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127248"/>
            <a:ext cx="47548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Postgres schema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30168"/>
            <a:ext cx="8229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320040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1">
                <a:solidFill>
                  <a:srgbClr val="396B4F"/>
                </a:solidFill>
              </a:defRPr>
            </a:pPr>
            <a:r>
              <a:t>seed_emissions.js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3703320"/>
            <a:ext cx="47548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Climate TRACE seed script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NDC Layer (Home)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8229600" cy="3913632"/>
          </a:xfrm>
          <a:prstGeom prst="rect">
            <a:avLst/>
          </a:prstGeom>
          <a:solidFill>
            <a:srgbClr val="F7F9F8"/>
          </a:solidFill>
          <a:ln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400" b="0">
                <a:solidFill>
                  <a:srgbClr val="5F6E64"/>
                </a:solidFill>
              </a:defRPr>
            </a:pPr>
            <a:r>
              <a:t>[ Screenshot: Five columns + sector filter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Replace with capture from npm run dev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Observed &amp;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8229600" cy="3913632"/>
          </a:xfrm>
          <a:prstGeom prst="rect">
            <a:avLst/>
          </a:prstGeom>
          <a:solidFill>
            <a:srgbClr val="F7F9F8"/>
          </a:solidFill>
          <a:ln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400" b="0">
                <a:solidFill>
                  <a:srgbClr val="5F6E64"/>
                </a:solidFill>
              </a:defRPr>
            </a:pPr>
            <a:r>
              <a:t>[ Screenshot: Live banner + Climate TRACE charts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Replace with capture from npm run dev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Executive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8229600" cy="3913632"/>
          </a:xfrm>
          <a:prstGeom prst="rect">
            <a:avLst/>
          </a:prstGeom>
          <a:solidFill>
            <a:srgbClr val="F7F9F8"/>
          </a:solidFill>
          <a:ln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400" b="0">
                <a:solidFill>
                  <a:srgbClr val="5F6E64"/>
                </a:solidFill>
              </a:defRPr>
            </a:pPr>
            <a:r>
              <a:t>[ Screenshot: Four tiles + what must change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Replace with capture from npm run dev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Climate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8229600" cy="3913632"/>
          </a:xfrm>
          <a:prstGeom prst="rect">
            <a:avLst/>
          </a:prstGeom>
          <a:solidFill>
            <a:srgbClr val="F7F9F8"/>
          </a:solidFill>
          <a:ln>
            <a:solidFill>
              <a:srgbClr val="39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1400" b="0">
                <a:solidFill>
                  <a:srgbClr val="5F6E64"/>
                </a:solidFill>
              </a:defRPr>
            </a:pPr>
            <a:r>
              <a:t>[ Screenshot: Hotspots + district map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5000"/>
              </a:lnSpc>
              <a:defRPr sz="800" b="0">
                <a:solidFill>
                  <a:srgbClr val="5F6E64"/>
                </a:solidFill>
              </a:defRPr>
            </a:pPr>
            <a:r>
              <a:t>Replace with capture from npm run dev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Challenges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Uganda NDC Data Explorer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8229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841248"/>
            <a:ext cx="2194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Mixed 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841248"/>
            <a:ext cx="57607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State curated vs API-backed panels clearly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35024"/>
            <a:ext cx="8229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26464"/>
            <a:ext cx="2194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Climate TRACE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426464"/>
            <a:ext cx="57607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National sectors only for that 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8229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11680"/>
            <a:ext cx="2194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Demo reliability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011680"/>
            <a:ext cx="57607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Pre-login, migrations, mock or seeded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05456"/>
            <a:ext cx="8229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96896"/>
            <a:ext cx="2194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Many 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596896"/>
            <a:ext cx="57607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Demo Cockpit + Risk; Advanced = 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90672"/>
            <a:ext cx="82296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182112"/>
            <a:ext cx="219456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1">
                <a:solidFill>
                  <a:srgbClr val="1E2A24"/>
                </a:solidFill>
              </a:defRPr>
            </a:pPr>
            <a:r>
              <a:t>Official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182112"/>
            <a:ext cx="576072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5F6E64"/>
                </a:solidFill>
              </a:defRPr>
            </a:pPr>
            <a:r>
              <a:t>Briefing tool — not UNFCCC submission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Policy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Why an NDC data explorer?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749808"/>
            <a:ext cx="8083296" cy="3913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1E2A24"/>
                </a:solidFill>
              </a:defRPr>
            </a:pPr>
            <a:r>
              <a:t>•  Paris Agreement — countries publish NDCs: targets and implementation measures.</a:t>
            </a:r>
            <a:br/>
            <a:br/>
            <a:r>
              <a:t>•  Uganda aligns NDC with NDP IV, Vision 2040, and sector strategies.</a:t>
            </a:r>
            <a:br/>
            <a:br/>
            <a:r>
              <a:t>•  Many actors need a shared picture: ministries, districts, MRV, partners.</a:t>
            </a:r>
            <a:br/>
            <a:br/>
            <a:r>
              <a:t>•  App navigates commitments, activities, indicators, and risk — not a new policy doc.</a:t>
            </a:r>
            <a:br/>
            <a:br/>
            <a:r>
              <a:t>•  Users: coordinators, MRV focal points, programme managers, executive briefings.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Data sources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Transparency for technical audiences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2609088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749808"/>
            <a:ext cx="2609088" cy="34747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813816"/>
            <a:ext cx="2389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In-app Uganda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88720"/>
            <a:ext cx="2389632" cy="3054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NDC targets &amp; sectors</a:t>
            </a:r>
            <a:br/>
            <a:r>
              <a:t>Strategy library</a:t>
            </a:r>
            <a:br/>
            <a:r>
              <a:t>District geography</a:t>
            </a:r>
            <a:br/>
            <a:r>
              <a:t>Indicator registry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7456" y="749808"/>
            <a:ext cx="2609088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7456" y="749808"/>
            <a:ext cx="2609088" cy="34747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7184" y="813816"/>
            <a:ext cx="2389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Climate 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84" y="1188720"/>
            <a:ext cx="2389632" cy="3054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Open API v6</a:t>
            </a:r>
            <a:br/>
            <a:r>
              <a:t>MtCO₂e in Postgres</a:t>
            </a:r>
            <a:br/>
            <a:r>
              <a:t>CC BY 4.0</a:t>
            </a:r>
            <a:br/>
            <a:r>
              <a:t>≠ national inventory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7712" y="749808"/>
            <a:ext cx="2609088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77712" y="749808"/>
            <a:ext cx="2609088" cy="34747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7440" y="813816"/>
            <a:ext cx="2389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440" y="1188720"/>
            <a:ext cx="2389632" cy="3054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/api/v1/provenance</a:t>
            </a:r>
            <a:br/>
            <a:r>
              <a:t>Excel &amp; PDF exports</a:t>
            </a:r>
            <a:br/>
            <a:r>
              <a:t>Supabase auth</a:t>
            </a:r>
            <a:br/>
            <a:r>
              <a:t>Gaps, not guesses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"/>
            <a:ext cx="82296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2000" b="1">
                <a:solidFill>
                  <a:srgbClr val="FFFFFF"/>
                </a:solidFill>
              </a:defRPr>
            </a:pPr>
            <a:r>
              <a:t>What we built &amp;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"/>
            <a:ext cx="8229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000" b="0">
                <a:solidFill>
                  <a:srgbClr val="B4C8BE"/>
                </a:solidFill>
              </a:defRPr>
            </a:pPr>
            <a:r>
              <a:t>Project reflections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36592"/>
            <a:ext cx="9144000" cy="370332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6858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800" b="0">
                <a:solidFill>
                  <a:srgbClr val="B4C8BE"/>
                </a:solidFill>
              </a:defRPr>
            </a:pPr>
            <a:r>
              <a:t>Uganda NDC Data Explorer  ·  Demo 17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4791456"/>
            <a:ext cx="594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5000"/>
              </a:lnSpc>
              <a:defRPr sz="9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49808"/>
            <a:ext cx="2609088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749808"/>
            <a:ext cx="2609088" cy="34747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813816"/>
            <a:ext cx="2389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Delivered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188720"/>
            <a:ext cx="2389632" cy="3054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• NDC cockpit</a:t>
            </a:r>
            <a:br/>
            <a:r>
              <a:t>• Executive pages</a:t>
            </a:r>
            <a:br/>
            <a:r>
              <a:t>• Climate risk map</a:t>
            </a:r>
            <a:br/>
            <a:r>
              <a:t>• Role switcher</a:t>
            </a:r>
            <a:br/>
            <a:r>
              <a:t>• TRACE API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7456" y="749808"/>
            <a:ext cx="2609088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67456" y="749808"/>
            <a:ext cx="2609088" cy="34747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7184" y="813816"/>
            <a:ext cx="2389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84" y="1188720"/>
            <a:ext cx="2389632" cy="3054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• 20+ routes</a:t>
            </a:r>
            <a:br/>
            <a:r>
              <a:t>• Supabase + API wiring</a:t>
            </a:r>
            <a:br/>
            <a:r>
              <a:t>• Policy UX depth</a:t>
            </a:r>
            <a:br/>
            <a:r>
              <a:t>• Demo stability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7712" y="749808"/>
            <a:ext cx="2609088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CE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77712" y="749808"/>
            <a:ext cx="2609088" cy="347472"/>
          </a:xfrm>
          <a:prstGeom prst="rect">
            <a:avLst/>
          </a:prstGeom>
          <a:solidFill>
            <a:srgbClr val="39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7440" y="813816"/>
            <a:ext cx="23896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100" b="1">
                <a:solidFill>
                  <a:srgbClr val="FFFFFF"/>
                </a:solidFill>
              </a:defRPr>
            </a:pPr>
            <a:r>
              <a:t>Learned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440" y="1188720"/>
            <a:ext cx="2389632" cy="3054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900" b="0">
                <a:solidFill>
                  <a:srgbClr val="1E2A24"/>
                </a:solidFill>
              </a:defRPr>
            </a:pPr>
            <a:r>
              <a:t>• Columns &gt; tables</a:t>
            </a:r>
            <a:br/>
            <a:r>
              <a:t>• Commitment / delivery / evidence</a:t>
            </a:r>
            <a:br/>
            <a:r>
              <a:t>• Provenance builds trust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36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40280"/>
            <a:ext cx="82296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5000"/>
              </a:lnSpc>
              <a:defRPr sz="1200" b="0">
                <a:solidFill>
                  <a:srgbClr val="B4C8BE"/>
                </a:solidFill>
              </a:defRPr>
            </a:pPr>
            <a:r>
              <a:t>Repository: ndc-data-explorer-e051f914</a:t>
            </a:r>
            <a:br/>
            <a:br/>
            <a:r>
              <a:t>npm install → cp .env.example .env → npm run dev</a:t>
            </a:r>
            <a:br/>
            <a:r>
              <a:t>http://localhost:8080</a:t>
            </a:r>
            <a:br/>
            <a:br/>
            <a:r>
              <a:t>Optional: npm run start:api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