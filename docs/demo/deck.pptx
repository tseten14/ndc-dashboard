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9144000" cy="1440180"/>
          </a:xfrm>
          <a:prstGeom prst="rect">
            <a:avLst/>
          </a:prstGeom>
          <a:solidFill>
            <a:srgbClr val="39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8229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3200" b="1">
                <a:solidFill>
                  <a:srgbClr val="FFFFFF"/>
                </a:solidFill>
              </a:defRPr>
            </a:pPr>
            <a:r>
              <a:t>Uganda NDC Data Explorer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8229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400" b="0">
                <a:solidFill>
                  <a:srgbClr val="B4C8BE"/>
                </a:solidFill>
              </a:defRPr>
            </a:pPr>
            <a:r>
              <a:t>Decision-support cockpit · powered by Climate TRACE API v7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23160"/>
            <a:ext cx="8229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100" b="0">
                <a:solidFill>
                  <a:srgbClr val="B4C8BE"/>
                </a:solidFill>
              </a:defRPr>
            </a:pPr>
            <a:r>
              <a:t>Climate TRACE API  →  3D GIS map  →  NDC AI chatbot  →  policy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000" b="0">
                <a:solidFill>
                  <a:srgbClr val="B4C8BE"/>
                </a:solidFill>
              </a:defRPr>
            </a:pPr>
            <a:r>
              <a:t>Stack: React · Express (Node) · Climate TRACE API v7 · OpenAI · MapLibre GL · Vercel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86200"/>
            <a:ext cx="82296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100" b="0">
                <a:solidFill>
                  <a:srgbClr val="FFFFFF"/>
                </a:solidFill>
              </a:defRPr>
            </a:pPr>
            <a:r>
              <a:t>Date: 17 June 2026</a:t>
            </a:r>
            <a:br/>
            <a:r>
              <a:t>Presented by: Tseten Sherpa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82296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20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2336"/>
            <a:ext cx="8229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000" b="0">
                <a:solidFill>
                  <a:srgbClr val="B4C8BE"/>
                </a:solidFill>
              </a:defRPr>
            </a:pPr>
            <a:r>
              <a:t>From static NDCs to operational delivery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736592"/>
            <a:ext cx="9144000" cy="370332"/>
          </a:xfrm>
          <a:prstGeom prst="rect">
            <a:avLst/>
          </a:prstGeom>
          <a:solidFill>
            <a:srgbClr val="1E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791456"/>
            <a:ext cx="6858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800" b="0">
                <a:solidFill>
                  <a:srgbClr val="B4C8BE"/>
                </a:solidFill>
              </a:defRPr>
            </a:pPr>
            <a:r>
              <a:t>Uganda NDC Data Explorer  ·  Demo 17 June 2026  ·  Data: Climate TRACE API v7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4791456"/>
            <a:ext cx="594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defRPr sz="9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749808"/>
            <a:ext cx="8229600" cy="3913632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859536"/>
            <a:ext cx="7955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100" b="1">
                <a:solidFill>
                  <a:srgbClr val="1E2A24"/>
                </a:solidFill>
              </a:defRPr>
            </a:pPr>
            <a:r>
              <a:t>Today: ministries assemble answers manually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252728"/>
            <a:ext cx="169164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1252728"/>
            <a:ext cx="1691640" cy="54864"/>
          </a:xfrm>
          <a:prstGeom prst="rect">
            <a:avLst/>
          </a:prstGeom>
          <a:solidFill>
            <a:srgbClr val="39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1380744"/>
            <a:ext cx="154533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1000" b="1">
                <a:solidFill>
                  <a:srgbClr val="1E2A24"/>
                </a:solidFill>
              </a:defRPr>
            </a:pPr>
            <a:r>
              <a:t>NDC PDFs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1655064"/>
            <a:ext cx="1545336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800" b="0">
                <a:solidFill>
                  <a:srgbClr val="5F6E64"/>
                </a:solidFill>
              </a:defRPr>
            </a:pPr>
            <a:r>
              <a:t>Targets &amp; pledges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606040" y="1554480"/>
            <a:ext cx="182880" cy="201168"/>
          </a:xfrm>
          <a:prstGeom prst="rightArrow">
            <a:avLst/>
          </a:prstGeom>
          <a:solidFill>
            <a:srgbClr val="48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788920" y="1252728"/>
            <a:ext cx="169164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88920" y="1252728"/>
            <a:ext cx="1691640" cy="54864"/>
          </a:xfrm>
          <a:prstGeom prst="rect">
            <a:avLst/>
          </a:prstGeom>
          <a:solidFill>
            <a:srgbClr val="39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62072" y="1380744"/>
            <a:ext cx="154533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1000" b="1">
                <a:solidFill>
                  <a:srgbClr val="1E2A24"/>
                </a:solidFill>
              </a:defRPr>
            </a:pPr>
            <a:r>
              <a:t>Spreadsheets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62072" y="1655064"/>
            <a:ext cx="1545336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800" b="0">
                <a:solidFill>
                  <a:srgbClr val="5F6E64"/>
                </a:solidFill>
              </a:defRPr>
            </a:pPr>
            <a:r>
              <a:t>Sector data silos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480560" y="1554480"/>
            <a:ext cx="182880" cy="201168"/>
          </a:xfrm>
          <a:prstGeom prst="rightArrow">
            <a:avLst/>
          </a:prstGeom>
          <a:solidFill>
            <a:srgbClr val="48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63440" y="1252728"/>
            <a:ext cx="169164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63440" y="1252728"/>
            <a:ext cx="1691640" cy="54864"/>
          </a:xfrm>
          <a:prstGeom prst="rect">
            <a:avLst/>
          </a:prstGeom>
          <a:solidFill>
            <a:srgbClr val="39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36592" y="1380744"/>
            <a:ext cx="154533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1000" b="1">
                <a:solidFill>
                  <a:srgbClr val="1E2A24"/>
                </a:solidFill>
              </a:defRPr>
            </a:pPr>
            <a:r>
              <a:t>Email / MRV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6592" y="1655064"/>
            <a:ext cx="1545336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800" b="0">
                <a:solidFill>
                  <a:srgbClr val="5F6E64"/>
                </a:solidFill>
              </a:defRPr>
            </a:pPr>
            <a:r>
              <a:t>Fragmented evidence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355080" y="1554480"/>
            <a:ext cx="182880" cy="201168"/>
          </a:xfrm>
          <a:prstGeom prst="rightArrow">
            <a:avLst/>
          </a:prstGeom>
          <a:solidFill>
            <a:srgbClr val="48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37960" y="1252728"/>
            <a:ext cx="169164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37960" y="1252728"/>
            <a:ext cx="1691640" cy="54864"/>
          </a:xfrm>
          <a:prstGeom prst="rect">
            <a:avLst/>
          </a:prstGeom>
          <a:solidFill>
            <a:srgbClr val="39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11112" y="1380744"/>
            <a:ext cx="154533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1000" b="1">
                <a:solidFill>
                  <a:srgbClr val="1E2A24"/>
                </a:solidFill>
              </a:defRPr>
            </a:pPr>
            <a:r>
              <a:t>Weeks of 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11112" y="1655064"/>
            <a:ext cx="1545336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800" b="0">
                <a:solidFill>
                  <a:srgbClr val="5F6E64"/>
                </a:solidFill>
              </a:defRPr>
            </a:pPr>
            <a:r>
              <a:t>Before any briefing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4471416" y="2258568"/>
            <a:ext cx="201168" cy="320040"/>
          </a:xfrm>
          <a:prstGeom prst="downArrow">
            <a:avLst/>
          </a:prstGeom>
          <a:solidFill>
            <a:srgbClr val="48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2642616"/>
            <a:ext cx="8229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1000" b="1">
                <a:solidFill>
                  <a:srgbClr val="396B4F"/>
                </a:solidFill>
              </a:defRPr>
            </a:pPr>
            <a:r>
              <a:t>Five operational questions — unanswered in real time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244" y="2971800"/>
            <a:ext cx="14173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4108" y="3136392"/>
            <a:ext cx="130759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800" b="0">
                <a:solidFill>
                  <a:srgbClr val="1E2A24"/>
                </a:solidFill>
              </a:defRPr>
            </a:pPr>
            <a:r>
              <a:t>Where are we today?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336292" y="2971800"/>
            <a:ext cx="14173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91156" y="3136392"/>
            <a:ext cx="130759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800" b="0">
                <a:solidFill>
                  <a:srgbClr val="1E2A24"/>
                </a:solidFill>
              </a:defRPr>
            </a:pPr>
            <a:r>
              <a:t>What moves the needle?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63340" y="2971800"/>
            <a:ext cx="14173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18204" y="3136392"/>
            <a:ext cx="130759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800" b="0">
                <a:solidFill>
                  <a:srgbClr val="1E2A24"/>
                </a:solidFill>
              </a:defRPr>
            </a:pPr>
            <a:r>
              <a:t>Policy impact?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90388" y="2971800"/>
            <a:ext cx="14173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45252" y="3136392"/>
            <a:ext cx="130759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800" b="0">
                <a:solidFill>
                  <a:srgbClr val="1E2A24"/>
                </a:solidFill>
              </a:defRPr>
            </a:pPr>
            <a:r>
              <a:t>Gaps vs target?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17436" y="2971800"/>
            <a:ext cx="14173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72300" y="3136392"/>
            <a:ext cx="130759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800" b="0">
                <a:solidFill>
                  <a:srgbClr val="1E2A24"/>
                </a:solidFill>
              </a:defRPr>
            </a:pPr>
            <a:r>
              <a:t>What to prioritise?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4160520"/>
            <a:ext cx="7955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900" b="0">
                <a:solidFill>
                  <a:srgbClr val="5F6E64"/>
                </a:solidFill>
              </a:defRPr>
            </a:pPr>
            <a:r>
              <a:t>Our answer: link Uganda's NDC layer to live observed emissions via the Climate TRACE API — not another static report.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82296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2000" b="1">
                <a:solidFill>
                  <a:srgbClr val="FFFFFF"/>
                </a:solidFill>
              </a:defRPr>
            </a:pPr>
            <a:r>
              <a:t>Cockpit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2336"/>
            <a:ext cx="8229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000" b="0">
                <a:solidFill>
                  <a:srgbClr val="B4C8BE"/>
                </a:solidFill>
              </a:defRPr>
            </a:pPr>
            <a:r>
              <a:t>Five linked columns — one decision workspace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736592"/>
            <a:ext cx="9144000" cy="370332"/>
          </a:xfrm>
          <a:prstGeom prst="rect">
            <a:avLst/>
          </a:prstGeom>
          <a:solidFill>
            <a:srgbClr val="1E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791456"/>
            <a:ext cx="6858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800" b="0">
                <a:solidFill>
                  <a:srgbClr val="B4C8BE"/>
                </a:solidFill>
              </a:defRPr>
            </a:pPr>
            <a:r>
              <a:t>Uganda NDC Data Explorer  ·  Demo 17 June 2026  ·  Data: Climate TRACE API v7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4791456"/>
            <a:ext cx="594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defRPr sz="9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749808"/>
            <a:ext cx="8229600" cy="324612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069848"/>
            <a:ext cx="14173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069848"/>
            <a:ext cx="1417320" cy="54864"/>
          </a:xfrm>
          <a:prstGeom prst="rect">
            <a:avLst/>
          </a:prstGeom>
          <a:solidFill>
            <a:srgbClr val="39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197864"/>
            <a:ext cx="127101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1000" b="1">
                <a:solidFill>
                  <a:srgbClr val="1E2A24"/>
                </a:solidFill>
              </a:defRPr>
            </a:pPr>
            <a:r>
              <a:t>1 · Targets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1472184"/>
            <a:ext cx="1271016" cy="7589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800" b="0">
                <a:solidFill>
                  <a:srgbClr val="5F6E64"/>
                </a:solidFill>
              </a:defRPr>
            </a:pPr>
            <a:r>
              <a:t>NDC pledges</a:t>
            </a:r>
            <a:br/>
            <a:r>
              <a:t>Sector filters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194560" y="1581912"/>
            <a:ext cx="109728" cy="201168"/>
          </a:xfrm>
          <a:prstGeom prst="rightArrow">
            <a:avLst/>
          </a:prstGeom>
          <a:solidFill>
            <a:srgbClr val="48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304288" y="1069848"/>
            <a:ext cx="14173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04288" y="1069848"/>
            <a:ext cx="1417320" cy="54864"/>
          </a:xfrm>
          <a:prstGeom prst="rect">
            <a:avLst/>
          </a:prstGeom>
          <a:solidFill>
            <a:srgbClr val="39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1197864"/>
            <a:ext cx="127101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1000" b="1">
                <a:solidFill>
                  <a:srgbClr val="1E2A24"/>
                </a:solidFill>
              </a:defRPr>
            </a:pPr>
            <a:r>
              <a:t>2 · Activities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1472184"/>
            <a:ext cx="1271016" cy="7589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800" b="0">
                <a:solidFill>
                  <a:srgbClr val="5F6E64"/>
                </a:solidFill>
              </a:defRPr>
            </a:pPr>
            <a:r>
              <a:t>Measures &amp; owners</a:t>
            </a:r>
            <a:br/>
            <a:r>
              <a:t>Implementation catalog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721608" y="1581912"/>
            <a:ext cx="109728" cy="201168"/>
          </a:xfrm>
          <a:prstGeom prst="rightArrow">
            <a:avLst/>
          </a:prstGeom>
          <a:solidFill>
            <a:srgbClr val="48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31336" y="1069848"/>
            <a:ext cx="1417320" cy="1234440"/>
          </a:xfrm>
          <a:prstGeom prst="roundRect">
            <a:avLst/>
          </a:prstGeom>
          <a:solidFill>
            <a:srgbClr val="EBF5EE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31336" y="1069848"/>
            <a:ext cx="1417320" cy="54864"/>
          </a:xfrm>
          <a:prstGeom prst="rect">
            <a:avLst/>
          </a:prstGeom>
          <a:solidFill>
            <a:srgbClr val="2E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04488" y="1197864"/>
            <a:ext cx="127101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1000" b="1">
                <a:solidFill>
                  <a:srgbClr val="1E2A24"/>
                </a:solidFill>
              </a:defRPr>
            </a:pPr>
            <a:r>
              <a:t>3 · Observed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04488" y="1472184"/>
            <a:ext cx="1271016" cy="7589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800" b="0">
                <a:solidFill>
                  <a:srgbClr val="5F6E64"/>
                </a:solidFill>
              </a:defRPr>
            </a:pPr>
            <a:r>
              <a:t>Climate TRACE API</a:t>
            </a:r>
            <a:br/>
            <a:r>
              <a:t>Live MtCO₂e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248656" y="1581912"/>
            <a:ext cx="109728" cy="201168"/>
          </a:xfrm>
          <a:prstGeom prst="rightArrow">
            <a:avLst/>
          </a:prstGeom>
          <a:solidFill>
            <a:srgbClr val="48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358384" y="1069848"/>
            <a:ext cx="14173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58384" y="1069848"/>
            <a:ext cx="1417320" cy="54864"/>
          </a:xfrm>
          <a:prstGeom prst="rect">
            <a:avLst/>
          </a:prstGeom>
          <a:solidFill>
            <a:srgbClr val="39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31536" y="1197864"/>
            <a:ext cx="127101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1000" b="1">
                <a:solidFill>
                  <a:srgbClr val="1E2A24"/>
                </a:solidFill>
              </a:defRPr>
            </a:pPr>
            <a:r>
              <a:t>4 · Progress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31536" y="1472184"/>
            <a:ext cx="1271016" cy="7589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800" b="0">
                <a:solidFill>
                  <a:srgbClr val="5F6E64"/>
                </a:solidFill>
              </a:defRPr>
            </a:pPr>
            <a:r>
              <a:t>On-track scoring</a:t>
            </a:r>
            <a:br/>
            <a:r>
              <a:t>Gap vs 2030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6775704" y="1581912"/>
            <a:ext cx="109728" cy="201168"/>
          </a:xfrm>
          <a:prstGeom prst="rightArrow">
            <a:avLst/>
          </a:prstGeom>
          <a:solidFill>
            <a:srgbClr val="48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885432" y="1069848"/>
            <a:ext cx="14173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85432" y="1069848"/>
            <a:ext cx="1417320" cy="54864"/>
          </a:xfrm>
          <a:prstGeom prst="rect">
            <a:avLst/>
          </a:prstGeom>
          <a:solidFill>
            <a:srgbClr val="39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58584" y="1197864"/>
            <a:ext cx="127101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1000" b="1">
                <a:solidFill>
                  <a:srgbClr val="1E2A24"/>
                </a:solidFill>
              </a:defRPr>
            </a:pPr>
            <a:r>
              <a:t>5 · Options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58584" y="1472184"/>
            <a:ext cx="1271016" cy="7589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800" b="0">
                <a:solidFill>
                  <a:srgbClr val="5F6E64"/>
                </a:solidFill>
              </a:defRPr>
            </a:pPr>
            <a:r>
              <a:t>Mitigation paths</a:t>
            </a:r>
            <a:br/>
            <a:r>
              <a:t>Finance scenarios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2624327"/>
            <a:ext cx="1874519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2624327"/>
            <a:ext cx="1874519" cy="54864"/>
          </a:xfrm>
          <a:prstGeom prst="rect">
            <a:avLst/>
          </a:prstGeom>
          <a:solidFill>
            <a:srgbClr val="48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2752343"/>
            <a:ext cx="1728215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1000" b="1">
                <a:solidFill>
                  <a:srgbClr val="1E2A24"/>
                </a:solidFill>
              </a:defRPr>
            </a:pPr>
            <a:r>
              <a:t>Uganda NDC catalog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3026663"/>
            <a:ext cx="1728215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800" b="0">
                <a:solidFill>
                  <a:srgbClr val="5F6E64"/>
                </a:solidFill>
              </a:defRPr>
            </a:pPr>
            <a:r>
              <a:t>Curated targets &amp; strategies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697480" y="2624327"/>
            <a:ext cx="1874519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697480" y="2624327"/>
            <a:ext cx="1874519" cy="54864"/>
          </a:xfrm>
          <a:prstGeom prst="rect">
            <a:avLst/>
          </a:prstGeom>
          <a:solidFill>
            <a:srgbClr val="2E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70632" y="2752343"/>
            <a:ext cx="1728215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1000" b="1">
                <a:solidFill>
                  <a:srgbClr val="1E2A24"/>
                </a:solidFill>
              </a:defRPr>
            </a:pPr>
            <a:r>
              <a:t>Climate TRACE v7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70632" y="3026663"/>
            <a:ext cx="1728215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800" b="0">
                <a:solidFill>
                  <a:srgbClr val="5F6E64"/>
                </a:solidFill>
              </a:defRPr>
            </a:pPr>
            <a:r>
              <a:t>api.climatetrace.org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754880" y="2624327"/>
            <a:ext cx="1874519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754880" y="2624327"/>
            <a:ext cx="1874519" cy="54864"/>
          </a:xfrm>
          <a:prstGeom prst="rect">
            <a:avLst/>
          </a:prstGeom>
          <a:solidFill>
            <a:srgbClr val="48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28032" y="2752343"/>
            <a:ext cx="1728215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1000" b="1">
                <a:solidFill>
                  <a:srgbClr val="1E2A24"/>
                </a:solidFill>
              </a:defRPr>
            </a:pPr>
            <a:r>
              <a:t>3D GIS map tab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28032" y="3026663"/>
            <a:ext cx="1728215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800" b="0">
                <a:solidFill>
                  <a:srgbClr val="5F6E64"/>
                </a:solidFill>
              </a:defRPr>
            </a:pPr>
            <a:r>
              <a:t>Satellite terrain</a:t>
            </a:r>
            <a:br/>
            <a:r>
              <a:t>Emission bubbles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12280" y="2624327"/>
            <a:ext cx="1874519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812280" y="2624327"/>
            <a:ext cx="1874519" cy="54864"/>
          </a:xfrm>
          <a:prstGeom prst="rect">
            <a:avLst/>
          </a:prstGeom>
          <a:solidFill>
            <a:srgbClr val="B48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85432" y="2752343"/>
            <a:ext cx="1728215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1000" b="1">
                <a:solidFill>
                  <a:srgbClr val="1E2A24"/>
                </a:solidFill>
              </a:defRPr>
            </a:pPr>
            <a:r>
              <a:t>NDC AI chatbot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85432" y="3026663"/>
            <a:ext cx="1728215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800" b="0">
                <a:solidFill>
                  <a:srgbClr val="5F6E64"/>
                </a:solidFill>
              </a:defRPr>
            </a:pPr>
            <a:r>
              <a:t>Grounded briefing</a:t>
            </a:r>
            <a:br/>
            <a:r>
              <a:t>OpenAI + citations</a:t>
            </a:r>
          </a:p>
        </p:txBody>
      </p:sp>
      <p:cxnSp>
        <p:nvCxnSpPr>
          <p:cNvPr id="49" name="Connector 48"/>
          <p:cNvCxnSpPr/>
          <p:nvPr/>
        </p:nvCxnSpPr>
        <p:spPr>
          <a:xfrm flipV="1">
            <a:off x="1554480" y="2304288"/>
            <a:ext cx="0" cy="320039"/>
          </a:xfrm>
          <a:prstGeom prst="line">
            <a:avLst/>
          </a:prstGeom>
          <a:ln w="19050">
            <a:solidFill>
              <a:srgbClr val="488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611880" y="2304288"/>
            <a:ext cx="0" cy="320039"/>
          </a:xfrm>
          <a:prstGeom prst="line">
            <a:avLst/>
          </a:prstGeom>
          <a:ln w="19050">
            <a:solidFill>
              <a:srgbClr val="488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669280" y="2304288"/>
            <a:ext cx="0" cy="320039"/>
          </a:xfrm>
          <a:prstGeom prst="line">
            <a:avLst/>
          </a:prstGeom>
          <a:ln w="19050">
            <a:solidFill>
              <a:srgbClr val="488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94360" y="3630168"/>
            <a:ext cx="7955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900" b="0">
                <a:solidFill>
                  <a:srgbClr val="1E2A24"/>
                </a:solidFill>
              </a:defRPr>
            </a:pPr>
            <a:r>
              <a:t>Observed column + Emissions Map + NDC AI share one Climate TRACE pipeline — charts, 3D GIS bubbles, and chat answers cite the same live API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82296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2000" b="1">
                <a:solidFill>
                  <a:srgbClr val="FFFFFF"/>
                </a:solidFill>
              </a:defRPr>
            </a:pPr>
            <a:r>
              <a:t>What you can do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2336"/>
            <a:ext cx="8229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000" b="0">
                <a:solidFill>
                  <a:srgbClr val="B4C8BE"/>
                </a:solidFill>
              </a:defRPr>
            </a:pPr>
            <a:r>
              <a:t>Six modules for planners, MRV teams and partners — Climate TRACE + Uganda's Updated NDC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736592"/>
            <a:ext cx="9144000" cy="370332"/>
          </a:xfrm>
          <a:prstGeom prst="rect">
            <a:avLst/>
          </a:prstGeom>
          <a:solidFill>
            <a:srgbClr val="1E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791456"/>
            <a:ext cx="6858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800" b="0">
                <a:solidFill>
                  <a:srgbClr val="B4C8BE"/>
                </a:solidFill>
              </a:defRPr>
            </a:pPr>
            <a:r>
              <a:t>Uganda NDC Data Explorer  ·  Demo 17 June 2026  ·  Data: Climate TRACE API v7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4791456"/>
            <a:ext cx="594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defRPr sz="9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749808"/>
            <a:ext cx="8229600" cy="3913632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841248"/>
            <a:ext cx="2609088" cy="1837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841248"/>
            <a:ext cx="2609088" cy="292608"/>
          </a:xfrm>
          <a:prstGeom prst="rect">
            <a:avLst/>
          </a:prstGeom>
          <a:solidFill>
            <a:srgbClr val="39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886968"/>
            <a:ext cx="242620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000" b="1">
                <a:solidFill>
                  <a:srgbClr val="FFFFFF"/>
                </a:solidFill>
              </a:defRPr>
            </a:pPr>
            <a:r>
              <a:t>Explore NDCs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170432"/>
            <a:ext cx="2426208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700" b="1">
                <a:solidFill>
                  <a:srgbClr val="396B4F"/>
                </a:solidFill>
              </a:defRPr>
            </a:pPr>
            <a:r>
              <a:t>Planners · sector ministries · focal 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2426208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750" b="0">
                <a:solidFill>
                  <a:srgbClr val="1E2A24"/>
                </a:solidFill>
              </a:defRPr>
            </a:pPr>
            <a:r>
              <a:t>Browse sector targets, Climate TRACE progress, mitigation options, and finance links in one cockpit.</a:t>
            </a:r>
            <a:br/>
            <a:br/>
            <a:r>
              <a:t>Useful when you need to see which sectors are on or off track before BTR reporting.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67456" y="841248"/>
            <a:ext cx="2609088" cy="1837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67456" y="841248"/>
            <a:ext cx="2609088" cy="292608"/>
          </a:xfrm>
          <a:prstGeom prst="rect">
            <a:avLst/>
          </a:prstGeom>
          <a:solidFill>
            <a:srgbClr val="B48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58896" y="886968"/>
            <a:ext cx="242620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000" b="1">
                <a:solidFill>
                  <a:srgbClr val="FFFFFF"/>
                </a:solidFill>
              </a:defRPr>
            </a:pPr>
            <a:r>
              <a:t>Data Ingestion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8896" y="1170432"/>
            <a:ext cx="2426208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700" b="1">
                <a:solidFill>
                  <a:srgbClr val="B48228"/>
                </a:solidFill>
              </a:defRPr>
            </a:pPr>
            <a:r>
              <a:t>MRV teams · GIS · ministry statistics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8896" y="1371600"/>
            <a:ext cx="2426208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750" b="0">
                <a:solidFill>
                  <a:srgbClr val="1E2A24"/>
                </a:solidFill>
              </a:defRPr>
            </a:pPr>
            <a:r>
              <a:t>Quick-scan unknown files or map columns to indicators and publish trusted observations.</a:t>
            </a:r>
            <a:br/>
            <a:br/>
            <a:r>
              <a:t>Useful when ministry spreadsheets must sit beside satellite data — triage without committing bad rows.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77712" y="841248"/>
            <a:ext cx="2609088" cy="1837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77712" y="841248"/>
            <a:ext cx="2609088" cy="29260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69152" y="886968"/>
            <a:ext cx="242620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000" b="1">
                <a:solidFill>
                  <a:srgbClr val="FFFFFF"/>
                </a:solidFill>
              </a:defRPr>
            </a:pPr>
            <a:r>
              <a:t>AI Predictions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69152" y="1170432"/>
            <a:ext cx="2426208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700" b="1">
                <a:solidFill>
                  <a:srgbClr val="9B59B6"/>
                </a:solidFill>
              </a:defRPr>
            </a:pPr>
            <a:r>
              <a:t>Strategy planners · finance · gap screening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69152" y="1371600"/>
            <a:ext cx="2426208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750" b="0">
                <a:solidFill>
                  <a:srgbClr val="1E2A24"/>
                </a:solidFill>
              </a:defRPr>
            </a:pPr>
            <a:r>
              <a:t>Forecast 2030 trajectories from observed emissions history; gap cards flag emerging shortfalls.</a:t>
            </a:r>
            <a:br/>
            <a:br/>
            <a:r>
              <a:t>Useful for prioritisation conversations — spot problems early, not at the 2030 deadline.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825496"/>
            <a:ext cx="2609088" cy="1837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2825496"/>
            <a:ext cx="2609088" cy="292608"/>
          </a:xfrm>
          <a:prstGeom prst="rect">
            <a:avLst/>
          </a:prstGeom>
          <a:solidFill>
            <a:srgbClr val="5F6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871216"/>
            <a:ext cx="242620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000" b="1">
                <a:solidFill>
                  <a:srgbClr val="FFFFFF"/>
                </a:solidFill>
              </a:defRPr>
            </a:pPr>
            <a:r>
              <a:t>Policy documents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154680"/>
            <a:ext cx="2426208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700" b="1">
                <a:solidFill>
                  <a:srgbClr val="5F6E64"/>
                </a:solidFill>
              </a:defRPr>
            </a:pPr>
            <a:r>
              <a:t>Policy analysts · legal · delegation prep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355848"/>
            <a:ext cx="2426208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750" b="0">
                <a:solidFill>
                  <a:srgbClr val="1E2A24"/>
                </a:solidFill>
              </a:defRPr>
            </a:pPr>
            <a:r>
              <a:t>National corpus, CPR passage search on key laws, and intervention pathway diagrams.</a:t>
            </a:r>
            <a:br/>
            <a:br/>
            <a:r>
              <a:t>Useful to find evidence in NDC, NDPIV, and regulations — trace interventions to intended outcomes.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67456" y="2825496"/>
            <a:ext cx="2609088" cy="1837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67456" y="2825496"/>
            <a:ext cx="2609088" cy="292608"/>
          </a:xfrm>
          <a:prstGeom prst="rect">
            <a:avLst/>
          </a:prstGeom>
          <a:solidFill>
            <a:srgbClr val="2E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58896" y="2871216"/>
            <a:ext cx="242620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000" b="1">
                <a:solidFill>
                  <a:srgbClr val="FFFFFF"/>
                </a:solidFill>
              </a:defRPr>
            </a:pPr>
            <a:r>
              <a:t>Policy Impact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58896" y="3154680"/>
            <a:ext cx="2426208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700" b="1">
                <a:solidFill>
                  <a:srgbClr val="2E78A0"/>
                </a:solidFill>
              </a:defRPr>
            </a:pPr>
            <a:r>
              <a:t>Socio-economic planners · adaptation teams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58896" y="3355848"/>
            <a:ext cx="2426208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750" b="0">
                <a:solidFill>
                  <a:srgbClr val="1E2A24"/>
                </a:solidFill>
              </a:defRPr>
            </a:pPr>
            <a:r>
              <a:t>Model policy choices with international case-study analogies and TEF intervention picker.</a:t>
            </a:r>
            <a:br/>
            <a:br/>
            <a:r>
              <a:t>Useful to stress-test options before committing resources — deep-link to finance screening.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77712" y="2825496"/>
            <a:ext cx="2609088" cy="1837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77712" y="2825496"/>
            <a:ext cx="2609088" cy="2926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69152" y="2871216"/>
            <a:ext cx="242620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000" b="1">
                <a:solidFill>
                  <a:srgbClr val="FFFFFF"/>
                </a:solidFill>
              </a:defRPr>
            </a:pPr>
            <a:r>
              <a:t>My 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69152" y="3154680"/>
            <a:ext cx="2426208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700" b="1">
                <a:solidFill>
                  <a:srgbClr val="E67E22"/>
                </a:solidFill>
              </a:defRPr>
            </a:pPr>
            <a:r>
              <a:t>Field officers · delivery units · validators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69152" y="3355848"/>
            <a:ext cx="2426208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750" b="0">
                <a:solidFill>
                  <a:srgbClr val="1E2A24"/>
                </a:solidFill>
              </a:defRPr>
            </a:pPr>
            <a:r>
              <a:t>Log delivery activities, manage approvals queue, and track pending verifications.</a:t>
            </a:r>
            <a:br/>
            <a:br/>
            <a:r>
              <a:t>Useful to keep evidence organized before it counts toward national reporting.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4279392"/>
            <a:ext cx="801014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800" b="0">
                <a:solidFill>
                  <a:srgbClr val="5F6E64"/>
                </a:solidFill>
              </a:defRPr>
            </a:pPr>
            <a:r>
              <a:t>Each tile maps to a live route in the app — same home screen users see at ndc-data-explorer-e051f914.vercel.app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82296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20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2336"/>
            <a:ext cx="8229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000" b="0">
                <a:solidFill>
                  <a:srgbClr val="B4C8BE"/>
                </a:solidFill>
              </a:defRPr>
            </a:pPr>
            <a:r>
              <a:t>Browser → API → live data — same code local and on Vercel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736592"/>
            <a:ext cx="9144000" cy="370332"/>
          </a:xfrm>
          <a:prstGeom prst="rect">
            <a:avLst/>
          </a:prstGeom>
          <a:solidFill>
            <a:srgbClr val="1E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791456"/>
            <a:ext cx="6858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800" b="0">
                <a:solidFill>
                  <a:srgbClr val="B4C8BE"/>
                </a:solidFill>
              </a:defRPr>
            </a:pPr>
            <a:r>
              <a:t>Uganda NDC Data Explorer  ·  Demo 17 June 2026  ·  Data: Climate TRACE API v7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4791456"/>
            <a:ext cx="594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defRPr sz="9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749808"/>
            <a:ext cx="8229600" cy="3913632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877824"/>
            <a:ext cx="79552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877824"/>
            <a:ext cx="1371600" cy="914400"/>
          </a:xfrm>
          <a:prstGeom prst="rect">
            <a:avLst/>
          </a:prstGeom>
          <a:solidFill>
            <a:srgbClr val="39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987552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000" b="1">
                <a:solidFill>
                  <a:srgbClr val="FFFFFF"/>
                </a:solidFill>
              </a:defRPr>
            </a:pPr>
            <a:r>
              <a:t>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426464"/>
            <a:ext cx="11887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700" b="0">
                <a:solidFill>
                  <a:srgbClr val="DCE4E0"/>
                </a:solidFill>
              </a:defRPr>
            </a:pPr>
            <a:r>
              <a:t>React SPA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75688" y="1024128"/>
            <a:ext cx="154990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21408" y="1097280"/>
            <a:ext cx="145846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900" b="1">
                <a:solidFill>
                  <a:srgbClr val="1E2A24"/>
                </a:solidFill>
              </a:defRPr>
            </a:pPr>
            <a:r>
              <a:t>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21408" y="1335024"/>
            <a:ext cx="1458468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700" b="0">
                <a:solidFill>
                  <a:srgbClr val="5F6E64"/>
                </a:solidFill>
              </a:defRPr>
            </a:pPr>
            <a:r>
              <a:t>Targets · observed · progress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17036" y="1024128"/>
            <a:ext cx="154990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62756" y="1097280"/>
            <a:ext cx="145846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900" b="1">
                <a:solidFill>
                  <a:srgbClr val="1E2A24"/>
                </a:solidFill>
              </a:defRPr>
            </a:pPr>
            <a:r>
              <a:t>Emissions 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62756" y="1335024"/>
            <a:ext cx="1458468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700" b="0">
                <a:solidFill>
                  <a:srgbClr val="5F6E64"/>
                </a:solidFill>
              </a:defRPr>
            </a:pPr>
            <a:r>
              <a:t>3D GIS bubbles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58384" y="1024128"/>
            <a:ext cx="154990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4104" y="1097280"/>
            <a:ext cx="145846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900" b="1">
                <a:solidFill>
                  <a:srgbClr val="1E2A24"/>
                </a:solidFill>
              </a:defRPr>
            </a:pPr>
            <a:r>
              <a:t>Policy / Finance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4104" y="1335024"/>
            <a:ext cx="1458468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700" b="0">
                <a:solidFill>
                  <a:srgbClr val="5F6E64"/>
                </a:solidFill>
              </a:defRPr>
            </a:pPr>
            <a:r>
              <a:t>Pathways · MAC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99732" y="1024128"/>
            <a:ext cx="154990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5452" y="1097280"/>
            <a:ext cx="145846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900" b="1">
                <a:solidFill>
                  <a:srgbClr val="1E2A24"/>
                </a:solidFill>
              </a:defRPr>
            </a:pPr>
            <a:r>
              <a:t>NDC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5452" y="1335024"/>
            <a:ext cx="1458468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700" b="0">
                <a:solidFill>
                  <a:srgbClr val="5F6E64"/>
                </a:solidFill>
              </a:defRPr>
            </a:pPr>
            <a:r>
              <a:t>Grounded chat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5212080" y="1810512"/>
            <a:ext cx="201168" cy="237744"/>
          </a:xfrm>
          <a:prstGeom prst="downArrow">
            <a:avLst/>
          </a:prstGeom>
          <a:solidFill>
            <a:srgbClr val="48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13248" y="1792224"/>
            <a:ext cx="29260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700" b="0">
                <a:solidFill>
                  <a:srgbClr val="5F6E64"/>
                </a:solidFill>
              </a:defRPr>
            </a:pPr>
            <a:r>
              <a:t>same-origin /api/v1 · React Query cache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2084832"/>
            <a:ext cx="79552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" y="2084832"/>
            <a:ext cx="1371600" cy="914400"/>
          </a:xfrm>
          <a:prstGeom prst="rect">
            <a:avLst/>
          </a:prstGeom>
          <a:solidFill>
            <a:srgbClr val="48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219456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000" b="1">
                <a:solidFill>
                  <a:srgbClr val="FFFFFF"/>
                </a:solidFill>
              </a:defRPr>
            </a:pPr>
            <a:r>
              <a:t>API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2633472"/>
            <a:ext cx="11887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700" b="0">
                <a:solidFill>
                  <a:srgbClr val="DCE4E0"/>
                </a:solidFill>
              </a:defRPr>
            </a:pPr>
            <a:r>
              <a:t>Express · Node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075688" y="2231136"/>
            <a:ext cx="122163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21408" y="2304288"/>
            <a:ext cx="113019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900" b="1">
                <a:solidFill>
                  <a:srgbClr val="1E2A24"/>
                </a:solidFill>
              </a:defRPr>
            </a:pPr>
            <a:r>
              <a:t>emissions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21408" y="2542032"/>
            <a:ext cx="1130198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700" b="0">
                <a:solidFill>
                  <a:srgbClr val="5F6E64"/>
                </a:solidFill>
              </a:defRPr>
            </a:pPr>
            <a:r>
              <a:t>TRACE aggregation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88766" y="2231136"/>
            <a:ext cx="122163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34486" y="2304288"/>
            <a:ext cx="113019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900" b="1">
                <a:solidFill>
                  <a:srgbClr val="1E2A24"/>
                </a:solidFill>
              </a:defRPr>
            </a:pPr>
            <a:r>
              <a:t>documents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34486" y="2542032"/>
            <a:ext cx="1130198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700" b="0">
                <a:solidFill>
                  <a:srgbClr val="5F6E64"/>
                </a:solidFill>
              </a:defRPr>
            </a:pPr>
            <a:r>
              <a:t>CPR corpus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01844" y="2231136"/>
            <a:ext cx="122163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47564" y="2304288"/>
            <a:ext cx="113019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900" b="1">
                <a:solidFill>
                  <a:srgbClr val="1E2A24"/>
                </a:solidFill>
              </a:defRPr>
            </a:pPr>
            <a:r>
              <a:t>policyImpact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47564" y="2542032"/>
            <a:ext cx="1130198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700" b="0">
                <a:solidFill>
                  <a:srgbClr val="5F6E64"/>
                </a:solidFill>
              </a:defRPr>
            </a:pPr>
            <a:r>
              <a:t>KCI matching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14923" y="2231136"/>
            <a:ext cx="122163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60643" y="2304288"/>
            <a:ext cx="113019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900" b="1">
                <a:solidFill>
                  <a:srgbClr val="1E2A24"/>
                </a:solidFill>
              </a:defRPr>
            </a:pPr>
            <a:r>
              <a:t>ingest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60643" y="2542032"/>
            <a:ext cx="1130198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700" b="0">
                <a:solidFill>
                  <a:srgbClr val="5F6E64"/>
                </a:solidFill>
              </a:defRPr>
            </a:pPr>
            <a:r>
              <a:t>Mapped import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28001" y="2231136"/>
            <a:ext cx="122163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73721" y="2304288"/>
            <a:ext cx="113019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900" b="1">
                <a:solidFill>
                  <a:srgbClr val="1E2A24"/>
                </a:solidFill>
              </a:defRPr>
            </a:pPr>
            <a:r>
              <a:t>dashboardAi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73721" y="2542032"/>
            <a:ext cx="1130198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700" b="0">
                <a:solidFill>
                  <a:srgbClr val="5F6E64"/>
                </a:solidFill>
              </a:defRPr>
            </a:pPr>
            <a:r>
              <a:t>OpenAI proxy</a:t>
            </a:r>
          </a:p>
        </p:txBody>
      </p:sp>
      <p:sp>
        <p:nvSpPr>
          <p:cNvPr id="46" name="Down Arrow 45"/>
          <p:cNvSpPr/>
          <p:nvPr/>
        </p:nvSpPr>
        <p:spPr>
          <a:xfrm>
            <a:off x="5212080" y="3017520"/>
            <a:ext cx="201168" cy="237744"/>
          </a:xfrm>
          <a:prstGeom prst="downArrow">
            <a:avLst/>
          </a:prstGeom>
          <a:solidFill>
            <a:srgbClr val="48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94360" y="3291840"/>
            <a:ext cx="79552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94360" y="3291840"/>
            <a:ext cx="1371600" cy="914400"/>
          </a:xfrm>
          <a:prstGeom prst="rect">
            <a:avLst/>
          </a:prstGeom>
          <a:solidFill>
            <a:srgbClr val="2E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3401568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000" b="1">
                <a:solidFill>
                  <a:srgbClr val="FFFFFF"/>
                </a:solidFill>
              </a:defRPr>
            </a:pPr>
            <a:r>
              <a:t>Data sources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3840480"/>
            <a:ext cx="11887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700" b="0">
                <a:solidFill>
                  <a:srgbClr val="DCE4E0"/>
                </a:solidFill>
              </a:defRPr>
            </a:pPr>
            <a:r>
              <a:t>live + versioned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075688" y="3438144"/>
            <a:ext cx="1549908" cy="621792"/>
          </a:xfrm>
          <a:prstGeom prst="roundRect">
            <a:avLst/>
          </a:prstGeom>
          <a:solidFill>
            <a:srgbClr val="EBF5EE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121408" y="3511296"/>
            <a:ext cx="145846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900" b="1">
                <a:solidFill>
                  <a:srgbClr val="1E2A24"/>
                </a:solidFill>
              </a:defRPr>
            </a:pPr>
            <a:r>
              <a:t>Climate TRACE v7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21408" y="3749040"/>
            <a:ext cx="1458468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700" b="0">
                <a:solidFill>
                  <a:srgbClr val="5F6E64"/>
                </a:solidFill>
              </a:defRPr>
            </a:pPr>
            <a:r>
              <a:t>Live emissions API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717036" y="3438144"/>
            <a:ext cx="1549908" cy="621792"/>
          </a:xfrm>
          <a:prstGeom prst="roundRect">
            <a:avLst/>
          </a:prstGeom>
          <a:solidFill>
            <a:srgbClr val="EBF5EE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762756" y="3511296"/>
            <a:ext cx="145846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900" b="1">
                <a:solidFill>
                  <a:srgbClr val="1E2A24"/>
                </a:solidFill>
              </a:defRPr>
            </a:pPr>
            <a:r>
              <a:t>NDC catalog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62756" y="3749040"/>
            <a:ext cx="1458468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700" b="0">
                <a:solidFill>
                  <a:srgbClr val="5F6E64"/>
                </a:solidFill>
              </a:defRPr>
            </a:pPr>
            <a:r>
              <a:t>Repo-versioned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358384" y="3438144"/>
            <a:ext cx="1549908" cy="621792"/>
          </a:xfrm>
          <a:prstGeom prst="roundRect">
            <a:avLst/>
          </a:prstGeom>
          <a:solidFill>
            <a:srgbClr val="EBF5EE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04104" y="3511296"/>
            <a:ext cx="145846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900" b="1">
                <a:solidFill>
                  <a:srgbClr val="1E2A24"/>
                </a:solidFill>
              </a:defRPr>
            </a:pPr>
            <a:r>
              <a:t>Postgres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04104" y="3749040"/>
            <a:ext cx="1458468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700" b="0">
                <a:solidFill>
                  <a:srgbClr val="5F6E64"/>
                </a:solidFill>
              </a:defRPr>
            </a:pPr>
            <a:r>
              <a:t>Optional ingest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999732" y="3438144"/>
            <a:ext cx="1549908" cy="621792"/>
          </a:xfrm>
          <a:prstGeom prst="roundRect">
            <a:avLst/>
          </a:prstGeom>
          <a:solidFill>
            <a:srgbClr val="EBF5EE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045452" y="3511296"/>
            <a:ext cx="145846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900" b="1">
                <a:solidFill>
                  <a:srgbClr val="1E2A24"/>
                </a:solidFill>
              </a:defRPr>
            </a:pPr>
            <a:r>
              <a:t>OpenAI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45452" y="3749040"/>
            <a:ext cx="1458468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700" b="0">
                <a:solidFill>
                  <a:srgbClr val="5F6E64"/>
                </a:solidFill>
              </a:defRPr>
            </a:pPr>
            <a:r>
              <a:t>gpt-4o-mini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82296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2000" b="1">
                <a:solidFill>
                  <a:srgbClr val="FFFFFF"/>
                </a:solidFill>
              </a:defRPr>
            </a:pPr>
            <a:r>
              <a:t>Climate TRACE data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2336"/>
            <a:ext cx="8229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000" b="0">
                <a:solidFill>
                  <a:srgbClr val="B4C8BE"/>
                </a:solidFill>
              </a:defRPr>
            </a:pPr>
            <a:r>
              <a:t>Live observed emissions — API v7 (CC BY 4.0)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736592"/>
            <a:ext cx="9144000" cy="370332"/>
          </a:xfrm>
          <a:prstGeom prst="rect">
            <a:avLst/>
          </a:prstGeom>
          <a:solidFill>
            <a:srgbClr val="1E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791456"/>
            <a:ext cx="6858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800" b="0">
                <a:solidFill>
                  <a:srgbClr val="B4C8BE"/>
                </a:solidFill>
              </a:defRPr>
            </a:pPr>
            <a:r>
              <a:t>Uganda NDC Data Explorer  ·  Demo 17 June 2026  ·  Data: Climate TRACE API v7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4791456"/>
            <a:ext cx="594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defRPr sz="9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749808"/>
            <a:ext cx="8229600" cy="3913632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841248"/>
            <a:ext cx="1828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800" b="1">
                <a:solidFill>
                  <a:srgbClr val="5F6E64"/>
                </a:solidFill>
              </a:defRPr>
            </a:pPr>
            <a:r>
              <a:t>EMISSIONS SOURCES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097280"/>
            <a:ext cx="1783080" cy="658368"/>
          </a:xfrm>
          <a:prstGeom prst="roundRect">
            <a:avLst/>
          </a:prstGeom>
          <a:solidFill>
            <a:srgbClr val="E6F2F8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097280"/>
            <a:ext cx="1783080" cy="54864"/>
          </a:xfrm>
          <a:prstGeom prst="rect">
            <a:avLst/>
          </a:prstGeom>
          <a:solidFill>
            <a:srgbClr val="2E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225296"/>
            <a:ext cx="163677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1000" b="1">
                <a:solidFill>
                  <a:srgbClr val="1E2A24"/>
                </a:solidFill>
              </a:defRPr>
            </a:pPr>
            <a:r>
              <a:t>Satellite 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499616"/>
            <a:ext cx="1636776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800" b="0">
                <a:solidFill>
                  <a:srgbClr val="5F6E64"/>
                </a:solidFill>
              </a:defRPr>
            </a:pPr>
            <a:r>
              <a:t>Land &amp; power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1847088"/>
            <a:ext cx="1783080" cy="658368"/>
          </a:xfrm>
          <a:prstGeom prst="roundRect">
            <a:avLst/>
          </a:prstGeom>
          <a:solidFill>
            <a:srgbClr val="E6F2F8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1847088"/>
            <a:ext cx="1783080" cy="54864"/>
          </a:xfrm>
          <a:prstGeom prst="rect">
            <a:avLst/>
          </a:prstGeom>
          <a:solidFill>
            <a:srgbClr val="2E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975104"/>
            <a:ext cx="163677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1000" b="1">
                <a:solidFill>
                  <a:srgbClr val="1E2A24"/>
                </a:solidFill>
              </a:defRPr>
            </a:pPr>
            <a:r>
              <a:t>Facility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249424"/>
            <a:ext cx="1636776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800" b="0">
                <a:solidFill>
                  <a:srgbClr val="5F6E64"/>
                </a:solidFill>
              </a:defRPr>
            </a:pPr>
            <a:r>
              <a:t>Power &amp; industry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596896"/>
            <a:ext cx="1783080" cy="658368"/>
          </a:xfrm>
          <a:prstGeom prst="roundRect">
            <a:avLst/>
          </a:prstGeom>
          <a:solidFill>
            <a:srgbClr val="E6F2F8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2596896"/>
            <a:ext cx="1783080" cy="54864"/>
          </a:xfrm>
          <a:prstGeom prst="rect">
            <a:avLst/>
          </a:prstGeom>
          <a:solidFill>
            <a:srgbClr val="2E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724912"/>
            <a:ext cx="163677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1000" b="1">
                <a:solidFill>
                  <a:srgbClr val="1E2A24"/>
                </a:solidFill>
              </a:defRPr>
            </a:pPr>
            <a:r>
              <a:t>Transport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999232"/>
            <a:ext cx="1636776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800" b="0">
                <a:solidFill>
                  <a:srgbClr val="5F6E64"/>
                </a:solidFill>
              </a:defRPr>
            </a:pPr>
            <a:r>
              <a:t>Road &amp; aviation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346704"/>
            <a:ext cx="1783080" cy="658368"/>
          </a:xfrm>
          <a:prstGeom prst="roundRect">
            <a:avLst/>
          </a:prstGeom>
          <a:solidFill>
            <a:srgbClr val="E6F2F8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346704"/>
            <a:ext cx="1783080" cy="54864"/>
          </a:xfrm>
          <a:prstGeom prst="rect">
            <a:avLst/>
          </a:prstGeom>
          <a:solidFill>
            <a:srgbClr val="2E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474720"/>
            <a:ext cx="163677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1000" b="1">
                <a:solidFill>
                  <a:srgbClr val="1E2A24"/>
                </a:solidFill>
              </a:defRPr>
            </a:pPr>
            <a:r>
              <a:t>AFOLU models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749040"/>
            <a:ext cx="1636776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800" b="0">
                <a:solidFill>
                  <a:srgbClr val="5F6E64"/>
                </a:solidFill>
              </a:defRPr>
            </a:pPr>
            <a:r>
              <a:t>Land use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88920" y="1252728"/>
            <a:ext cx="30632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88920" y="1252728"/>
            <a:ext cx="3063240" cy="384048"/>
          </a:xfrm>
          <a:prstGeom prst="rect">
            <a:avLst/>
          </a:prstGeom>
          <a:solidFill>
            <a:srgbClr val="2E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98648" y="1325880"/>
            <a:ext cx="284378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1300" b="1">
                <a:solidFill>
                  <a:srgbClr val="FFFFFF"/>
                </a:solidFill>
              </a:defRPr>
            </a:pPr>
            <a:r>
              <a:t>Climate TRACE API v7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1728216"/>
            <a:ext cx="2788920" cy="1874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800" b="0">
                <a:solidFill>
                  <a:srgbClr val="1E2A24"/>
                </a:solidFill>
              </a:defRPr>
            </a:pPr>
            <a:r>
              <a:t>•  GET /v7/sources/emissions — sector timeseries</a:t>
            </a:r>
            <a:br/>
            <a:r>
              <a:t>•  GET /v7/sources — asset-level map points</a:t>
            </a:r>
            <a:br/>
            <a:r>
              <a:t>•  GET /v7/rankings/countries — national totals</a:t>
            </a:r>
            <a:br/>
            <a:r>
              <a:t>•  GADM2 districts — Uganda disaggregation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3328416"/>
            <a:ext cx="2788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700" b="0">
                <a:solidFill>
                  <a:srgbClr val="2E78A0"/>
                </a:solidFill>
              </a:defRPr>
            </a:pPr>
            <a:r>
              <a:t>https://api.climatetrace.org/v7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350007" y="1426464"/>
            <a:ext cx="438913" cy="1014984"/>
          </a:xfrm>
          <a:prstGeom prst="line">
            <a:avLst/>
          </a:prstGeom>
          <a:ln w="19050">
            <a:solidFill>
              <a:srgbClr val="488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350007" y="2176272"/>
            <a:ext cx="438913" cy="265176"/>
          </a:xfrm>
          <a:prstGeom prst="line">
            <a:avLst/>
          </a:prstGeom>
          <a:ln w="19050">
            <a:solidFill>
              <a:srgbClr val="488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350007" y="2441448"/>
            <a:ext cx="438913" cy="484632"/>
          </a:xfrm>
          <a:prstGeom prst="line">
            <a:avLst/>
          </a:prstGeom>
          <a:ln w="19050">
            <a:solidFill>
              <a:srgbClr val="488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2350007" y="2441448"/>
            <a:ext cx="438913" cy="1234440"/>
          </a:xfrm>
          <a:prstGeom prst="line">
            <a:avLst/>
          </a:prstGeom>
          <a:ln w="19050">
            <a:solidFill>
              <a:srgbClr val="488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263640" y="1097280"/>
            <a:ext cx="224028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1097280"/>
            <a:ext cx="2240280" cy="54864"/>
          </a:xfrm>
          <a:prstGeom prst="rect">
            <a:avLst/>
          </a:prstGeom>
          <a:solidFill>
            <a:srgbClr val="39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36792" y="1225296"/>
            <a:ext cx="209397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1000" b="1">
                <a:solidFill>
                  <a:srgbClr val="1E2A24"/>
                </a:solidFill>
              </a:defRPr>
            </a:pPr>
            <a:r>
              <a:t>Express API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6792" y="1499616"/>
            <a:ext cx="2093976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800" b="0">
                <a:solidFill>
                  <a:srgbClr val="5F6E64"/>
                </a:solidFill>
              </a:defRPr>
            </a:pPr>
            <a:r>
              <a:t>Node.js backend</a:t>
            </a:r>
            <a:br/>
            <a:r>
              <a:t>Cache &amp; provenance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5852160" y="1399032"/>
            <a:ext cx="384048" cy="201168"/>
          </a:xfrm>
          <a:prstGeom prst="rightArrow">
            <a:avLst/>
          </a:prstGeom>
          <a:solidFill>
            <a:srgbClr val="48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263640" y="2029968"/>
            <a:ext cx="224028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63640" y="2029968"/>
            <a:ext cx="2240280" cy="54864"/>
          </a:xfrm>
          <a:prstGeom prst="rect">
            <a:avLst/>
          </a:prstGeom>
          <a:solidFill>
            <a:srgbClr val="39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36792" y="2157984"/>
            <a:ext cx="209397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1000" b="1">
                <a:solidFill>
                  <a:srgbClr val="1E2A24"/>
                </a:solidFill>
              </a:defRPr>
            </a:pPr>
            <a:r>
              <a:t>Postgres / seed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36792" y="2432304"/>
            <a:ext cx="2093976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800" b="0">
                <a:solidFill>
                  <a:srgbClr val="5F6E64"/>
                </a:solidFill>
              </a:defRPr>
            </a:pPr>
            <a:r>
              <a:t>MtCO₂e store</a:t>
            </a:r>
            <a:br/>
            <a:r>
              <a:t>/api/v1/provenance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5852160" y="2331720"/>
            <a:ext cx="384048" cy="201168"/>
          </a:xfrm>
          <a:prstGeom prst="rightArrow">
            <a:avLst/>
          </a:prstGeom>
          <a:solidFill>
            <a:srgbClr val="48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263640" y="2962656"/>
            <a:ext cx="224028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63640" y="2962656"/>
            <a:ext cx="2240280" cy="54864"/>
          </a:xfrm>
          <a:prstGeom prst="rect">
            <a:avLst/>
          </a:prstGeom>
          <a:solidFill>
            <a:srgbClr val="39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36792" y="3090672"/>
            <a:ext cx="209397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1000" b="1">
                <a:solidFill>
                  <a:srgbClr val="1E2A24"/>
                </a:solidFill>
              </a:defRPr>
            </a:pPr>
            <a:r>
              <a:t>React cockpit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36792" y="3364992"/>
            <a:ext cx="2093976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800" b="0">
                <a:solidFill>
                  <a:srgbClr val="5F6E64"/>
                </a:solidFill>
              </a:defRPr>
            </a:pPr>
            <a:r>
              <a:t>Dashboard · 3D GIS</a:t>
            </a:r>
            <a:br/>
            <a:r>
              <a:t>NDC AI chatbot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5852160" y="3264408"/>
            <a:ext cx="384048" cy="201168"/>
          </a:xfrm>
          <a:prstGeom prst="rightArrow">
            <a:avLst/>
          </a:prstGeom>
          <a:solidFill>
            <a:srgbClr val="48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6928" y="4096512"/>
            <a:ext cx="8010144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800" b="0">
                <a:solidFill>
                  <a:srgbClr val="5F6E64"/>
                </a:solidFill>
              </a:defRPr>
            </a:pPr>
            <a:r>
              <a:t>In the app: every observed chart shows Climate TRACE provenance — click a bar to trace the source. Not a national inventory replacement; open observed layer for briefing.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82296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2000" b="1">
                <a:solidFill>
                  <a:srgbClr val="FFFFFF"/>
                </a:solidFill>
              </a:defRPr>
            </a:pPr>
            <a:r>
              <a:t>Three layers of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2336"/>
            <a:ext cx="8229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000" b="0">
                <a:solidFill>
                  <a:srgbClr val="B4C8BE"/>
                </a:solidFill>
              </a:defRPr>
            </a:pPr>
            <a:r>
              <a:t>What is official, what is observed, what is indicative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736592"/>
            <a:ext cx="9144000" cy="370332"/>
          </a:xfrm>
          <a:prstGeom prst="rect">
            <a:avLst/>
          </a:prstGeom>
          <a:solidFill>
            <a:srgbClr val="1E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791456"/>
            <a:ext cx="6858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800" b="0">
                <a:solidFill>
                  <a:srgbClr val="B4C8BE"/>
                </a:solidFill>
              </a:defRPr>
            </a:pPr>
            <a:r>
              <a:t>Uganda NDC Data Explorer  ·  Demo 17 June 2026  ·  Data: Climate TRACE API v7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4791456"/>
            <a:ext cx="594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defRPr sz="9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749808"/>
            <a:ext cx="8229600" cy="3913632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896112"/>
            <a:ext cx="79552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896112"/>
            <a:ext cx="109728" cy="713232"/>
          </a:xfrm>
          <a:prstGeom prst="rect">
            <a:avLst/>
          </a:prstGeom>
          <a:solidFill>
            <a:srgbClr val="39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987552"/>
            <a:ext cx="2468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100" b="1">
                <a:solidFill>
                  <a:srgbClr val="396B4F"/>
                </a:solidFill>
              </a:defRPr>
            </a:pPr>
            <a:r>
              <a:t>1 · Official pledges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261872"/>
            <a:ext cx="585216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850" b="0">
                <a:solidFill>
                  <a:srgbClr val="1E2A24"/>
                </a:solidFill>
              </a:defRPr>
            </a:pPr>
            <a:r>
              <a:t>Uganda Updated NDC 2022 targets + curated activity catalogue — versioned in the repo.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1097280"/>
            <a:ext cx="1005840" cy="310896"/>
          </a:xfrm>
          <a:prstGeom prst="roundRect">
            <a:avLst/>
          </a:prstGeom>
          <a:solidFill>
            <a:srgbClr val="39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2360" y="1143000"/>
            <a:ext cx="10058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800" b="1">
                <a:solidFill>
                  <a:srgbClr val="FFFFFF"/>
                </a:solidFill>
              </a:defRPr>
            </a:pPr>
            <a:r>
              <a:t>BUNDLED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1737360"/>
            <a:ext cx="79552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1737360"/>
            <a:ext cx="109728" cy="713232"/>
          </a:xfrm>
          <a:prstGeom prst="rect">
            <a:avLst/>
          </a:prstGeom>
          <a:solidFill>
            <a:srgbClr val="2E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1828800"/>
            <a:ext cx="2468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100" b="1">
                <a:solidFill>
                  <a:srgbClr val="2E78A0"/>
                </a:solidFill>
              </a:defRPr>
            </a:pPr>
            <a:r>
              <a:t>2 · Observed emissions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103120"/>
            <a:ext cx="585216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850" b="0">
                <a:solidFill>
                  <a:srgbClr val="1E2A24"/>
                </a:solidFill>
              </a:defRPr>
            </a:pPr>
            <a:r>
              <a:t>Climate TRACE API v7 — live MtCO₂e on Dashboard &amp; 3D GIS Map; national 2015+, district 2021+.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1938528"/>
            <a:ext cx="1005840" cy="310896"/>
          </a:xfrm>
          <a:prstGeom prst="roundRect">
            <a:avLst/>
          </a:prstGeom>
          <a:solidFill>
            <a:srgbClr val="2E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60" y="1984248"/>
            <a:ext cx="10058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800" b="1">
                <a:solidFill>
                  <a:srgbClr val="FFFFFF"/>
                </a:solidFill>
              </a:defRPr>
            </a:pPr>
            <a:r>
              <a:t>LIVE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578608"/>
            <a:ext cx="79552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2578608"/>
            <a:ext cx="109728" cy="713232"/>
          </a:xfrm>
          <a:prstGeom prst="rect">
            <a:avLst/>
          </a:prstGeom>
          <a:solidFill>
            <a:srgbClr val="B48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2670048"/>
            <a:ext cx="2468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100" b="1">
                <a:solidFill>
                  <a:srgbClr val="B48228"/>
                </a:solidFill>
              </a:defRPr>
            </a:pPr>
            <a:r>
              <a:t>3 · Evidence &amp; screening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2944368"/>
            <a:ext cx="585216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850" b="0">
                <a:solidFill>
                  <a:srgbClr val="1E2A24"/>
                </a:solidFill>
              </a:defRPr>
            </a:pPr>
            <a:r>
              <a:t>Policy docs (CPR export), indicative finance (MAC), Policy Impact (KCI analogies), pathway diagrams.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52360" y="2779776"/>
            <a:ext cx="1005840" cy="310896"/>
          </a:xfrm>
          <a:prstGeom prst="roundRect">
            <a:avLst/>
          </a:prstGeom>
          <a:solidFill>
            <a:srgbClr val="B48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825496"/>
            <a:ext cx="10058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800" b="1">
                <a:solidFill>
                  <a:srgbClr val="FFFFFF"/>
                </a:solidFill>
              </a:defRPr>
            </a:pPr>
            <a:r>
              <a:t>INDICATIVE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419856"/>
            <a:ext cx="79552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" y="3419856"/>
            <a:ext cx="109728" cy="713232"/>
          </a:xfrm>
          <a:prstGeom prst="rect">
            <a:avLst/>
          </a:prstGeom>
          <a:solidFill>
            <a:srgbClr val="48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511296"/>
            <a:ext cx="2468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100" b="1">
                <a:solidFill>
                  <a:srgbClr val="48825F"/>
                </a:solidFill>
              </a:defRPr>
            </a:pPr>
            <a:r>
              <a:t>4 · Ministry uploads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785616"/>
            <a:ext cx="585216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850" b="0">
                <a:solidFill>
                  <a:srgbClr val="1E2A24"/>
                </a:solidFill>
              </a:defRPr>
            </a:pPr>
            <a:r>
              <a:t>Mapped ingest observations on indicator targets — provenance badge shown when Postgres is configured.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52360" y="3621024"/>
            <a:ext cx="1005840" cy="310896"/>
          </a:xfrm>
          <a:prstGeom prst="roundRect">
            <a:avLst/>
          </a:prstGeom>
          <a:solidFill>
            <a:srgbClr val="48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52360" y="3666744"/>
            <a:ext cx="10058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800" b="1">
                <a:solidFill>
                  <a:srgbClr val="FFFFFF"/>
                </a:solidFill>
              </a:defRPr>
            </a:pPr>
            <a:r>
              <a:t>OPTIONAL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4279392"/>
            <a:ext cx="7955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800" b="0">
                <a:solidFill>
                  <a:srgbClr val="5F6E64"/>
                </a:solidFill>
              </a:defRPr>
            </a:pPr>
            <a:r>
              <a:t>Intended outcomes (targets, pathways) stay visually distinct from measured outcomes (Climate TRACE).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82296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2000" b="1">
                <a:solidFill>
                  <a:srgbClr val="FFFFFF"/>
                </a:solidFill>
              </a:defRPr>
            </a:pPr>
            <a:r>
              <a:t>Live product — NDC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2336"/>
            <a:ext cx="8229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000" b="0">
                <a:solidFill>
                  <a:srgbClr val="B4C8BE"/>
                </a:solidFill>
              </a:defRPr>
            </a:pPr>
            <a:r>
              <a:t>Observed emissions linked to NDC targets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736592"/>
            <a:ext cx="9144000" cy="370332"/>
          </a:xfrm>
          <a:prstGeom prst="rect">
            <a:avLst/>
          </a:prstGeom>
          <a:solidFill>
            <a:srgbClr val="1E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791456"/>
            <a:ext cx="6858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800" b="0">
                <a:solidFill>
                  <a:srgbClr val="B4C8BE"/>
                </a:solidFill>
              </a:defRPr>
            </a:pPr>
            <a:r>
              <a:t>Uganda NDC Data Explorer  ·  Demo 17 June 2026  ·  Data: Climate TRACE API v7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4791456"/>
            <a:ext cx="594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defRPr sz="9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749808"/>
            <a:ext cx="5532120" cy="3913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board-trans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191863"/>
            <a:ext cx="5385816" cy="302952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72200" y="749808"/>
            <a:ext cx="2514600" cy="3913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749808"/>
            <a:ext cx="2514600" cy="329184"/>
          </a:xfrm>
          <a:prstGeom prst="rect">
            <a:avLst/>
          </a:prstGeom>
          <a:solidFill>
            <a:srgbClr val="39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804672"/>
            <a:ext cx="22951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pPr>
            <a:r>
              <a:t>On screen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216" y="1207008"/>
            <a:ext cx="225856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950" b="1">
                <a:solidFill>
                  <a:srgbClr val="396B4F"/>
                </a:solidFill>
              </a:defRPr>
            </a:pPr>
            <a:r>
              <a:t>Targets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216" y="1408176"/>
            <a:ext cx="225856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800" b="0">
                <a:solidFill>
                  <a:srgbClr val="1E2A24"/>
                </a:solidFill>
              </a:defRPr>
            </a:pPr>
            <a:r>
              <a:t>Uganda NDC 2022 pledges by sector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216" y="1773936"/>
            <a:ext cx="225856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950" b="1">
                <a:solidFill>
                  <a:srgbClr val="396B4F"/>
                </a:solidFill>
              </a:defRPr>
            </a:pPr>
            <a: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1975104"/>
            <a:ext cx="225856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800" b="0">
                <a:solidFill>
                  <a:srgbClr val="1E2A24"/>
                </a:solidFill>
              </a:defRPr>
            </a:pPr>
            <a:r>
              <a:t>Live Climate TRACE MtCO₂e timeseries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2340864"/>
            <a:ext cx="225856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950" b="1">
                <a:solidFill>
                  <a:srgbClr val="396B4F"/>
                </a:solidFill>
              </a:defRPr>
            </a:pPr>
            <a:r>
              <a:t>Progress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216" y="2542032"/>
            <a:ext cx="225856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800" b="0">
                <a:solidFill>
                  <a:srgbClr val="1E2A24"/>
                </a:solidFill>
              </a:defRPr>
            </a:pPr>
            <a:r>
              <a:t>On-track status vs 2030 ceiling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907792"/>
            <a:ext cx="225856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950" b="1">
                <a:solidFill>
                  <a:srgbClr val="396B4F"/>
                </a:solidFill>
              </a:defRPr>
            </a:pPr>
            <a:r>
              <a:t>NDC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3108960"/>
            <a:ext cx="225856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800" b="0">
                <a:solidFill>
                  <a:srgbClr val="1E2A24"/>
                </a:solidFill>
              </a:defRPr>
            </a:pPr>
            <a:r>
              <a:t>Ask a grounded question in plain language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3474720"/>
            <a:ext cx="225856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950" b="1">
                <a:solidFill>
                  <a:srgbClr val="396B4F"/>
                </a:solidFill>
              </a:defRPr>
            </a:pPr>
            <a:r>
              <a:t>Provenance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0216" y="3675888"/>
            <a:ext cx="225856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800" b="0">
                <a:solidFill>
                  <a:srgbClr val="1E2A24"/>
                </a:solidFill>
              </a:defRPr>
            </a:pPr>
            <a:r>
              <a:t>Click any bar to trace the source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82296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2000" b="1">
                <a:solidFill>
                  <a:srgbClr val="FFFFFF"/>
                </a:solidFill>
              </a:defRPr>
            </a:pPr>
            <a:r>
              <a:t>NDC AI &amp; 3D GIS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2336"/>
            <a:ext cx="8229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000" b="0">
                <a:solidFill>
                  <a:srgbClr val="B4C8BE"/>
                </a:solidFill>
              </a:defRPr>
            </a:pPr>
            <a:r>
              <a:t>Intelligence and spatial views on Climate TRACE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736592"/>
            <a:ext cx="9144000" cy="370332"/>
          </a:xfrm>
          <a:prstGeom prst="rect">
            <a:avLst/>
          </a:prstGeom>
          <a:solidFill>
            <a:srgbClr val="1E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791456"/>
            <a:ext cx="6858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800" b="0">
                <a:solidFill>
                  <a:srgbClr val="B4C8BE"/>
                </a:solidFill>
              </a:defRPr>
            </a:pPr>
            <a:r>
              <a:t>Uganda NDC Data Explorer  ·  Demo 17 June 2026  ·  Data: Climate TRACE API v7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4791456"/>
            <a:ext cx="594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defRPr sz="9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749808"/>
            <a:ext cx="8229600" cy="3913632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859536"/>
            <a:ext cx="402336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859536"/>
            <a:ext cx="4023360" cy="329184"/>
          </a:xfrm>
          <a:prstGeom prst="rect">
            <a:avLst/>
          </a:prstGeom>
          <a:solidFill>
            <a:srgbClr val="2E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914400"/>
            <a:ext cx="38039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pPr>
            <a:r>
              <a:t>3D GIS representation — Emissions Map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298448"/>
            <a:ext cx="1234440" cy="713232"/>
          </a:xfrm>
          <a:prstGeom prst="roundRect">
            <a:avLst/>
          </a:prstGeom>
          <a:solidFill>
            <a:srgbClr val="E6F2F8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1298448"/>
            <a:ext cx="1234440" cy="54864"/>
          </a:xfrm>
          <a:prstGeom prst="rect">
            <a:avLst/>
          </a:prstGeom>
          <a:solidFill>
            <a:srgbClr val="2E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1426464"/>
            <a:ext cx="108813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1000" b="1">
                <a:solidFill>
                  <a:srgbClr val="1E2A24"/>
                </a:solidFill>
              </a:defRPr>
            </a:pPr>
            <a:r>
              <a:t>Climate TRACE</a:t>
            </a:r>
            <a:br/>
            <a:r>
              <a:t>/v7/sources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1700784"/>
            <a:ext cx="1088136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800" b="0">
                <a:solidFill>
                  <a:srgbClr val="5F6E64"/>
                </a:solidFill>
              </a:defRPr>
            </a:pPr>
            <a:r>
              <a:t>Asset geo-points</a:t>
            </a:r>
            <a:br/>
            <a:r>
              <a:t>per sector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1828800" y="1554480"/>
            <a:ext cx="91440" cy="201168"/>
          </a:xfrm>
          <a:prstGeom prst="rightArrow">
            <a:avLst/>
          </a:prstGeom>
          <a:solidFill>
            <a:srgbClr val="48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920240" y="1298448"/>
            <a:ext cx="1234440" cy="713232"/>
          </a:xfrm>
          <a:prstGeom prst="roundRect">
            <a:avLst/>
          </a:prstGeom>
          <a:solidFill>
            <a:srgbClr val="E6F2F8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20240" y="1298448"/>
            <a:ext cx="1234440" cy="54864"/>
          </a:xfrm>
          <a:prstGeom prst="rect">
            <a:avLst/>
          </a:prstGeom>
          <a:solidFill>
            <a:srgbClr val="2E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93392" y="1426464"/>
            <a:ext cx="108813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1000" b="1">
                <a:solidFill>
                  <a:srgbClr val="1E2A24"/>
                </a:solidFill>
              </a:defRPr>
            </a:pPr>
            <a:r>
              <a:t>MapLibre GL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93392" y="1700784"/>
            <a:ext cx="1088136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800" b="0">
                <a:solidFill>
                  <a:srgbClr val="5F6E64"/>
                </a:solidFill>
              </a:defRPr>
            </a:pPr>
            <a:r>
              <a:t>Satellite imagery</a:t>
            </a:r>
            <a:br/>
            <a:r>
              <a:t>Terrain DEM 3D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154680" y="1554480"/>
            <a:ext cx="91440" cy="201168"/>
          </a:xfrm>
          <a:prstGeom prst="rightArrow">
            <a:avLst/>
          </a:prstGeom>
          <a:solidFill>
            <a:srgbClr val="48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246120" y="1298448"/>
            <a:ext cx="1234440" cy="713232"/>
          </a:xfrm>
          <a:prstGeom prst="roundRect">
            <a:avLst/>
          </a:prstGeom>
          <a:solidFill>
            <a:srgbClr val="E6F2F8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46120" y="1298448"/>
            <a:ext cx="1234440" cy="54864"/>
          </a:xfrm>
          <a:prstGeom prst="rect">
            <a:avLst/>
          </a:prstGeom>
          <a:solidFill>
            <a:srgbClr val="2E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19272" y="1426464"/>
            <a:ext cx="108813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1000" b="1">
                <a:solidFill>
                  <a:srgbClr val="1E2A24"/>
                </a:solidFill>
              </a:defRPr>
            </a:pPr>
            <a:r>
              <a:t>GIS bubbles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9272" y="1700784"/>
            <a:ext cx="1088136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800" b="0">
                <a:solidFill>
                  <a:srgbClr val="5F6E64"/>
                </a:solidFill>
              </a:defRPr>
            </a:pPr>
            <a:r>
              <a:t>Size ∝ MtCO₂e</a:t>
            </a:r>
            <a:br/>
            <a:r>
              <a:t>District overlay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2121408"/>
            <a:ext cx="3749040" cy="1874520"/>
          </a:xfrm>
          <a:prstGeom prst="roundRect">
            <a:avLst/>
          </a:prstGeom>
          <a:solidFill>
            <a:srgbClr val="0C1018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map-ugan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664" y="2157984"/>
            <a:ext cx="3202432" cy="1801368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4663440" y="859536"/>
            <a:ext cx="402336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663440" y="859536"/>
            <a:ext cx="4023360" cy="329184"/>
          </a:xfrm>
          <a:prstGeom prst="rect">
            <a:avLst/>
          </a:prstGeom>
          <a:solidFill>
            <a:srgbClr val="39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914400"/>
            <a:ext cx="38039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pPr>
            <a:r>
              <a:t>NDC AI chatbot — dashboard sidebar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00600" y="1298448"/>
            <a:ext cx="1234440" cy="713232"/>
          </a:xfrm>
          <a:prstGeom prst="roundRect">
            <a:avLst/>
          </a:prstGeom>
          <a:solidFill>
            <a:srgbClr val="EBF5EE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800600" y="1298448"/>
            <a:ext cx="1234440" cy="54864"/>
          </a:xfrm>
          <a:prstGeom prst="rect">
            <a:avLst/>
          </a:prstGeom>
          <a:solidFill>
            <a:srgbClr val="39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73752" y="1426464"/>
            <a:ext cx="108813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1000" b="1">
                <a:solidFill>
                  <a:srgbClr val="1E2A24"/>
                </a:solidFill>
              </a:defRPr>
            </a:pPr>
            <a:r>
              <a:t>User question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73752" y="1700784"/>
            <a:ext cx="1088136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800" b="0">
                <a:solidFill>
                  <a:srgbClr val="5F6E64"/>
                </a:solidFill>
              </a:defRPr>
            </a:pPr>
            <a:r>
              <a:t>Plain language</a:t>
            </a:r>
            <a:br/>
            <a:r>
              <a:t>'Transport on track?'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6035040" y="1554480"/>
            <a:ext cx="91440" cy="201168"/>
          </a:xfrm>
          <a:prstGeom prst="rightArrow">
            <a:avLst/>
          </a:prstGeom>
          <a:solidFill>
            <a:srgbClr val="48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126480" y="1298448"/>
            <a:ext cx="1234440" cy="713232"/>
          </a:xfrm>
          <a:prstGeom prst="roundRect">
            <a:avLst/>
          </a:prstGeom>
          <a:solidFill>
            <a:srgbClr val="EBF5EE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26480" y="1298448"/>
            <a:ext cx="1234440" cy="54864"/>
          </a:xfrm>
          <a:prstGeom prst="rect">
            <a:avLst/>
          </a:prstGeom>
          <a:solidFill>
            <a:srgbClr val="39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99632" y="1426464"/>
            <a:ext cx="108813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1000" b="1">
                <a:solidFill>
                  <a:srgbClr val="1E2A24"/>
                </a:solidFill>
              </a:defRPr>
            </a:pPr>
            <a:r>
              <a:t>Context pack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9632" y="1700784"/>
            <a:ext cx="1088136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800" b="0">
                <a:solidFill>
                  <a:srgbClr val="5F6E64"/>
                </a:solidFill>
              </a:defRPr>
            </a:pPr>
            <a:r>
              <a:t>Sector · target</a:t>
            </a:r>
            <a:br/>
            <a:r>
              <a:t>TRACE progress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7360920" y="1554480"/>
            <a:ext cx="91440" cy="201168"/>
          </a:xfrm>
          <a:prstGeom prst="rightArrow">
            <a:avLst/>
          </a:prstGeom>
          <a:solidFill>
            <a:srgbClr val="48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452360" y="1298448"/>
            <a:ext cx="1234440" cy="713232"/>
          </a:xfrm>
          <a:prstGeom prst="roundRect">
            <a:avLst/>
          </a:prstGeom>
          <a:solidFill>
            <a:srgbClr val="EBF5EE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452360" y="1298448"/>
            <a:ext cx="1234440" cy="54864"/>
          </a:xfrm>
          <a:prstGeom prst="rect">
            <a:avLst/>
          </a:prstGeom>
          <a:solidFill>
            <a:srgbClr val="39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25512" y="1426464"/>
            <a:ext cx="108813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1000" b="1">
                <a:solidFill>
                  <a:srgbClr val="1E2A24"/>
                </a:solidFill>
              </a:defRPr>
            </a:pPr>
            <a:r>
              <a:t>OpenAI API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25512" y="1700784"/>
            <a:ext cx="1088136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800" b="0">
                <a:solidFill>
                  <a:srgbClr val="5F6E64"/>
                </a:solidFill>
              </a:defRPr>
            </a:pPr>
            <a:r>
              <a:t>Grounded answer</a:t>
            </a:r>
            <a:br/>
            <a:r>
              <a:t>With citations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00600" y="2121408"/>
            <a:ext cx="3749040" cy="1874520"/>
          </a:xfrm>
          <a:prstGeom prst="roundRect">
            <a:avLst/>
          </a:prstGeom>
          <a:solidFill>
            <a:srgbClr val="F8FAF9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19472" y="2249424"/>
            <a:ext cx="3520440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800" b="0">
                <a:solidFill>
                  <a:srgbClr val="1E2A24"/>
                </a:solidFill>
              </a:defRPr>
            </a:pPr>
            <a:r>
              <a:t>▸  Opens from Progress column → NDC AI button</a:t>
            </a:r>
            <a:br/>
            <a:r>
              <a:t>▸  Tab key fills an example question</a:t>
            </a:r>
            <a:br/>
            <a:r>
              <a:t>▸  Answers cite Climate TRACE + NDC panels</a:t>
            </a:r>
            <a:br/>
            <a:r>
              <a:t>▸  Senior Decision-Maker briefing mode</a:t>
            </a:r>
            <a:br/>
            <a:r>
              <a:t>▸  Not a generic chatbot — country-specific context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4224528"/>
            <a:ext cx="801014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800" b="0">
                <a:solidFill>
                  <a:srgbClr val="5F6E64"/>
                </a:solidFill>
              </a:defRPr>
            </a:pPr>
            <a:r>
              <a:t>Both modules sit on the same Climate TRACE API v7 feed — spatial GIS for where emissions occur, NDC AI for why it matters against Uganda's pledges.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82296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2000" b="1">
                <a:solidFill>
                  <a:srgbClr val="FFFFFF"/>
                </a:solidFill>
              </a:defRPr>
            </a:pPr>
            <a:r>
              <a:t>From satellite to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2336"/>
            <a:ext cx="8229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000" b="0">
                <a:solidFill>
                  <a:srgbClr val="B4C8BE"/>
                </a:solidFill>
              </a:defRPr>
            </a:pPr>
            <a:r>
              <a:t>How observed data reaches the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736592"/>
            <a:ext cx="9144000" cy="370332"/>
          </a:xfrm>
          <a:prstGeom prst="rect">
            <a:avLst/>
          </a:prstGeom>
          <a:solidFill>
            <a:srgbClr val="1E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791456"/>
            <a:ext cx="6858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800" b="0">
                <a:solidFill>
                  <a:srgbClr val="B4C8BE"/>
                </a:solidFill>
              </a:defRPr>
            </a:pPr>
            <a:r>
              <a:t>Uganda NDC Data Explorer  ·  Demo 17 June 2026  ·  Data: Climate TRACE API v7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4791456"/>
            <a:ext cx="594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defRPr sz="9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978408"/>
            <a:ext cx="17830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" y="978408"/>
            <a:ext cx="1783080" cy="54864"/>
          </a:xfrm>
          <a:prstGeom prst="rect">
            <a:avLst/>
          </a:prstGeom>
          <a:solidFill>
            <a:srgbClr val="39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1106424"/>
            <a:ext cx="163677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1000" b="1">
                <a:solidFill>
                  <a:srgbClr val="1E2A24"/>
                </a:solidFill>
              </a:defRPr>
            </a:pPr>
            <a:r>
              <a:t>Climate TRACE</a:t>
            </a:r>
            <a:br/>
            <a:r>
              <a:t>ingests signals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1380744"/>
            <a:ext cx="1636776" cy="4846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800" b="0">
                <a:solidFill>
                  <a:srgbClr val="5F6E64"/>
                </a:solidFill>
              </a:defRPr>
            </a:pPr>
            <a:r>
              <a:t>Monthly updates</a:t>
            </a:r>
            <a:br/>
            <a:r>
              <a:t>100+ countries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42032" y="1357884"/>
            <a:ext cx="164592" cy="201168"/>
          </a:xfrm>
          <a:prstGeom prst="rightArrow">
            <a:avLst/>
          </a:prstGeom>
          <a:solidFill>
            <a:srgbClr val="48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06624" y="978408"/>
            <a:ext cx="17830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06624" y="978408"/>
            <a:ext cx="1783080" cy="54864"/>
          </a:xfrm>
          <a:prstGeom prst="rect">
            <a:avLst/>
          </a:prstGeom>
          <a:solidFill>
            <a:srgbClr val="39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9776" y="1106424"/>
            <a:ext cx="163677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1000" b="1">
                <a:solidFill>
                  <a:srgbClr val="1E2A24"/>
                </a:solidFill>
              </a:defRPr>
            </a:pPr>
            <a:r>
              <a:t>API v7 serves</a:t>
            </a:r>
            <a:br/>
            <a:r>
              <a:t>Uganda sectors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9776" y="1380744"/>
            <a:ext cx="1636776" cy="4846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800" b="0">
                <a:solidFill>
                  <a:srgbClr val="5F6E64"/>
                </a:solidFill>
              </a:defRPr>
            </a:pPr>
            <a:r>
              <a:t>Transport · Energy</a:t>
            </a:r>
            <a:br/>
            <a:r>
              <a:t>AFOLU · Waste…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489704" y="1357884"/>
            <a:ext cx="164592" cy="201168"/>
          </a:xfrm>
          <a:prstGeom prst="rightArrow">
            <a:avLst/>
          </a:prstGeom>
          <a:solidFill>
            <a:srgbClr val="48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54296" y="978408"/>
            <a:ext cx="17830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54296" y="978408"/>
            <a:ext cx="1783080" cy="54864"/>
          </a:xfrm>
          <a:prstGeom prst="rect">
            <a:avLst/>
          </a:prstGeom>
          <a:solidFill>
            <a:srgbClr val="39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27448" y="1106424"/>
            <a:ext cx="163677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1000" b="1">
                <a:solidFill>
                  <a:srgbClr val="1E2A24"/>
                </a:solidFill>
              </a:defRPr>
            </a:pPr>
            <a:r>
              <a:t>App reconciles</a:t>
            </a:r>
            <a:br/>
            <a:r>
              <a:t>vs NDC targets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7448" y="1380744"/>
            <a:ext cx="1636776" cy="4846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800" b="0">
                <a:solidFill>
                  <a:srgbClr val="5F6E64"/>
                </a:solidFill>
              </a:defRPr>
            </a:pPr>
            <a:r>
              <a:t>Progress % · gaps</a:t>
            </a:r>
            <a:br/>
            <a:r>
              <a:t>District views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437376" y="1357884"/>
            <a:ext cx="164592" cy="201168"/>
          </a:xfrm>
          <a:prstGeom prst="rightArrow">
            <a:avLst/>
          </a:prstGeom>
          <a:solidFill>
            <a:srgbClr val="48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601968" y="978408"/>
            <a:ext cx="17830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01968" y="978408"/>
            <a:ext cx="1783080" cy="54864"/>
          </a:xfrm>
          <a:prstGeom prst="rect">
            <a:avLst/>
          </a:prstGeom>
          <a:solidFill>
            <a:srgbClr val="39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1106424"/>
            <a:ext cx="163677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1000" b="1">
                <a:solidFill>
                  <a:srgbClr val="1E2A24"/>
                </a:solidFill>
              </a:defRPr>
            </a:pPr>
            <a:r>
              <a:t>Decision-maker</a:t>
            </a:r>
            <a:br/>
            <a:r>
              <a:t>briefing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1380744"/>
            <a:ext cx="1636776" cy="4846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800" b="0">
                <a:solidFill>
                  <a:srgbClr val="5F6E64"/>
                </a:solidFill>
              </a:defRPr>
            </a:pPr>
            <a:r>
              <a:t>Dashboard · Map</a:t>
            </a:r>
            <a:br/>
            <a:r>
              <a:t>NDC AI · Finance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2167128"/>
            <a:ext cx="3840480" cy="2359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map-ugan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307717"/>
            <a:ext cx="3694176" cy="2077974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4617720" y="2167128"/>
            <a:ext cx="3931920" cy="2359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2304288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100" b="1">
                <a:solidFill>
                  <a:srgbClr val="396B4F"/>
                </a:solidFill>
              </a:defRPr>
            </a:pPr>
            <a:r>
              <a:t>What users see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2624328"/>
            <a:ext cx="3657600" cy="18105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900" b="0">
                <a:solidFill>
                  <a:srgbClr val="1E2A24"/>
                </a:solidFill>
              </a:defRPr>
            </a:pPr>
            <a:r>
              <a:t>▸  Live Climate TRACE banner on dashboard</a:t>
            </a:r>
            <a:br/>
            <a:br/>
            <a:r>
              <a:t>▸  Sector timeseries charts (MtCO₂e)</a:t>
            </a:r>
            <a:br/>
            <a:br/>
            <a:r>
              <a:t>▸  3D GIS map — satellite terrain + emission bubbles</a:t>
            </a:r>
            <a:br/>
            <a:br/>
            <a:r>
              <a:t>▸  NDC AI chatbot — grounded briefing with citations</a:t>
            </a:r>
            <a:br/>
            <a:br/>
            <a:r>
              <a:t>▸  Progress ring vs 2030 NDC pledge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82296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2000" b="1">
                <a:solidFill>
                  <a:srgbClr val="FFFFFF"/>
                </a:solidFill>
              </a:defRPr>
            </a:pPr>
            <a:r>
              <a:t>Policy &amp; finance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2336"/>
            <a:ext cx="8229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000" b="0">
                <a:solidFill>
                  <a:srgbClr val="B4C8BE"/>
                </a:solidFill>
              </a:defRPr>
            </a:pPr>
            <a:r>
              <a:t>From observed gaps to investment scenarios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736592"/>
            <a:ext cx="9144000" cy="370332"/>
          </a:xfrm>
          <a:prstGeom prst="rect">
            <a:avLst/>
          </a:prstGeom>
          <a:solidFill>
            <a:srgbClr val="1E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791456"/>
            <a:ext cx="6858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800" b="0">
                <a:solidFill>
                  <a:srgbClr val="B4C8BE"/>
                </a:solidFill>
              </a:defRPr>
            </a:pPr>
            <a:r>
              <a:t>Uganda NDC Data Explorer  ·  Demo 17 June 2026  ·  Data: Climate TRACE API v7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4791456"/>
            <a:ext cx="594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defRPr sz="9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749808"/>
            <a:ext cx="4005072" cy="3044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ocuments-path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804672"/>
            <a:ext cx="3895344" cy="21911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3483864"/>
            <a:ext cx="3785616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800" b="0">
                <a:solidFill>
                  <a:srgbClr val="5F6E64"/>
                </a:solidFill>
              </a:defRPr>
            </a:pPr>
            <a:r>
              <a:t>Interventions → outcomes, traced to NDC targets (TEF logic model).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81728" y="749808"/>
            <a:ext cx="4005072" cy="3044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limate-fin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804672"/>
            <a:ext cx="3895344" cy="219113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91456" y="3483864"/>
            <a:ext cx="3785616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800" b="0">
                <a:solidFill>
                  <a:srgbClr val="5F6E64"/>
                </a:solidFill>
              </a:defRPr>
            </a:pPr>
            <a:r>
              <a:t>Indicative MAC — abatement cost vs potential; fund + MCF hints.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" y="3904488"/>
            <a:ext cx="23317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4380" y="3904488"/>
            <a:ext cx="2331720" cy="54864"/>
          </a:xfrm>
          <a:prstGeom prst="rect">
            <a:avLst/>
          </a:prstGeom>
          <a:solidFill>
            <a:srgbClr val="39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" y="4032504"/>
            <a:ext cx="218541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1000" b="1">
                <a:solidFill>
                  <a:srgbClr val="1E2A24"/>
                </a:solidFill>
              </a:defRPr>
            </a:pPr>
            <a:r>
              <a:t>Climate TRACE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" y="4306824"/>
            <a:ext cx="2185416" cy="91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800" b="0">
                <a:solidFill>
                  <a:srgbClr val="5F6E64"/>
                </a:solidFill>
              </a:defRPr>
            </a:pPr>
            <a:r>
              <a:t>Observed gaps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086100" y="4087368"/>
            <a:ext cx="320040" cy="201168"/>
          </a:xfrm>
          <a:prstGeom prst="rightArrow">
            <a:avLst/>
          </a:prstGeom>
          <a:solidFill>
            <a:srgbClr val="48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06140" y="3904488"/>
            <a:ext cx="23317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6140" y="3904488"/>
            <a:ext cx="2331720" cy="54864"/>
          </a:xfrm>
          <a:prstGeom prst="rect">
            <a:avLst/>
          </a:prstGeom>
          <a:solidFill>
            <a:srgbClr val="39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9292" y="4032504"/>
            <a:ext cx="218541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1000" b="1">
                <a:solidFill>
                  <a:srgbClr val="1E2A24"/>
                </a:solidFill>
              </a:defRPr>
            </a:pPr>
            <a:r>
              <a:t>Policy docs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9292" y="4306824"/>
            <a:ext cx="2185416" cy="91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800" b="0">
                <a:solidFill>
                  <a:srgbClr val="5F6E64"/>
                </a:solidFill>
              </a:defRPr>
            </a:pPr>
            <a:r>
              <a:t>Intervention map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737860" y="4087368"/>
            <a:ext cx="320040" cy="201168"/>
          </a:xfrm>
          <a:prstGeom prst="rightArrow">
            <a:avLst/>
          </a:prstGeom>
          <a:solidFill>
            <a:srgbClr val="48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057900" y="3904488"/>
            <a:ext cx="23317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57900" y="3904488"/>
            <a:ext cx="2331720" cy="54864"/>
          </a:xfrm>
          <a:prstGeom prst="rect">
            <a:avLst/>
          </a:prstGeom>
          <a:solidFill>
            <a:srgbClr val="39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31052" y="4032504"/>
            <a:ext cx="218541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1000" b="1">
                <a:solidFill>
                  <a:srgbClr val="1E2A24"/>
                </a:solidFill>
              </a:defRPr>
            </a:pPr>
            <a:r>
              <a:t>Finance MAC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31052" y="4306824"/>
            <a:ext cx="2185416" cy="91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800" b="0">
                <a:solidFill>
                  <a:srgbClr val="5F6E64"/>
                </a:solidFill>
              </a:defRPr>
            </a:pPr>
            <a:r>
              <a:t>Abatement cost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82296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2000" b="1">
                <a:solidFill>
                  <a:srgbClr val="FFFFFF"/>
                </a:solidFill>
              </a:defRPr>
            </a:pPr>
            <a:r>
              <a:t>5-minute live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2336"/>
            <a:ext cx="8229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000" b="0">
                <a:solidFill>
                  <a:srgbClr val="B4C8BE"/>
                </a:solidFill>
              </a:defRPr>
            </a:pPr>
            <a:r>
              <a:t>Suggested flow — Uganda · Transport sector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736592"/>
            <a:ext cx="9144000" cy="370332"/>
          </a:xfrm>
          <a:prstGeom prst="rect">
            <a:avLst/>
          </a:prstGeom>
          <a:solidFill>
            <a:srgbClr val="1E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791456"/>
            <a:ext cx="6858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800" b="0">
                <a:solidFill>
                  <a:srgbClr val="B4C8BE"/>
                </a:solidFill>
              </a:defRPr>
            </a:pPr>
            <a:r>
              <a:t>Uganda NDC Data Explorer  ·  Demo 17 June 2026  ·  Data: Climate TRACE API v7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4791456"/>
            <a:ext cx="594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defRPr sz="9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749808"/>
            <a:ext cx="8229600" cy="3913632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005840"/>
            <a:ext cx="1115568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005840"/>
            <a:ext cx="1115568" cy="256032"/>
          </a:xfrm>
          <a:prstGeom prst="rect">
            <a:avLst/>
          </a:prstGeom>
          <a:solidFill>
            <a:srgbClr val="39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042416"/>
            <a:ext cx="1115568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900" b="1">
                <a:solidFill>
                  <a:srgbClr val="FFFFFF"/>
                </a:solidFill>
              </a:defRPr>
            </a:pPr>
            <a:r>
              <a:t>0:00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316736"/>
            <a:ext cx="1005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900" b="1">
                <a:solidFill>
                  <a:srgbClr val="1E2A24"/>
                </a:solidFill>
              </a:defRPr>
            </a:pPr>
            <a:r>
              <a:t>Explore NDCs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1572768"/>
            <a:ext cx="10058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700" b="0">
                <a:solidFill>
                  <a:srgbClr val="5F6E64"/>
                </a:solidFill>
              </a:defRPr>
            </a:pPr>
            <a:r>
              <a:t>Dashboard · Transport</a:t>
            </a:r>
            <a:br/>
            <a:r>
              <a:t>Climate TRACE progress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682496" y="1385316"/>
            <a:ext cx="91440" cy="201168"/>
          </a:xfrm>
          <a:prstGeom prst="rightArrow">
            <a:avLst/>
          </a:prstGeom>
          <a:solidFill>
            <a:srgbClr val="48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773936" y="1005840"/>
            <a:ext cx="1115568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73936" y="1005840"/>
            <a:ext cx="1115568" cy="256032"/>
          </a:xfrm>
          <a:prstGeom prst="rect">
            <a:avLst/>
          </a:prstGeom>
          <a:solidFill>
            <a:srgbClr val="39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3936" y="1042416"/>
            <a:ext cx="1115568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900" b="1">
                <a:solidFill>
                  <a:srgbClr val="FFFFFF"/>
                </a:solidFill>
              </a:defRPr>
            </a:pPr>
            <a:r>
              <a:t>0:45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1316736"/>
            <a:ext cx="1005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900" b="1">
                <a:solidFill>
                  <a:srgbClr val="1E2A24"/>
                </a:solidFill>
              </a:defRPr>
            </a:pPr>
            <a:r>
              <a:t>Data Ingestion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1572768"/>
            <a:ext cx="10058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700" b="0">
                <a:solidFill>
                  <a:srgbClr val="5F6E64"/>
                </a:solidFill>
              </a:defRPr>
            </a:pPr>
            <a:r>
              <a:t>Quick scan file</a:t>
            </a:r>
            <a:br/>
            <a:r>
              <a:t>Mapped publish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889504" y="1385316"/>
            <a:ext cx="91440" cy="201168"/>
          </a:xfrm>
          <a:prstGeom prst="rightArrow">
            <a:avLst/>
          </a:prstGeom>
          <a:solidFill>
            <a:srgbClr val="48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80944" y="1005840"/>
            <a:ext cx="1115568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80944" y="1005840"/>
            <a:ext cx="1115568" cy="256032"/>
          </a:xfrm>
          <a:prstGeom prst="rect">
            <a:avLst/>
          </a:prstGeom>
          <a:solidFill>
            <a:srgbClr val="39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80944" y="1042416"/>
            <a:ext cx="1115568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900" b="1">
                <a:solidFill>
                  <a:srgbClr val="FFFFFF"/>
                </a:solidFill>
              </a:defRPr>
            </a:pPr>
            <a:r>
              <a:t>1:15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35808" y="1316736"/>
            <a:ext cx="1005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900" b="1">
                <a:solidFill>
                  <a:srgbClr val="1E2A24"/>
                </a:solidFill>
              </a:defRPr>
            </a:pPr>
            <a:r>
              <a:t>AI Predictions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35808" y="1572768"/>
            <a:ext cx="10058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700" b="0">
                <a:solidFill>
                  <a:srgbClr val="5F6E64"/>
                </a:solidFill>
              </a:defRPr>
            </a:pPr>
            <a:r>
              <a:t>2030 trajectory</a:t>
            </a:r>
            <a:br/>
            <a:r>
              <a:t>Gap cards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4096512" y="1385316"/>
            <a:ext cx="91440" cy="201168"/>
          </a:xfrm>
          <a:prstGeom prst="rightArrow">
            <a:avLst/>
          </a:prstGeom>
          <a:solidFill>
            <a:srgbClr val="48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187952" y="1005840"/>
            <a:ext cx="1115568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87952" y="1005840"/>
            <a:ext cx="1115568" cy="256032"/>
          </a:xfrm>
          <a:prstGeom prst="rect">
            <a:avLst/>
          </a:prstGeom>
          <a:solidFill>
            <a:srgbClr val="39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87952" y="1042416"/>
            <a:ext cx="1115568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900" b="1">
                <a:solidFill>
                  <a:srgbClr val="FFFFFF"/>
                </a:solidFill>
              </a:defRPr>
            </a:pPr>
            <a:r>
              <a:t>1:45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42816" y="1316736"/>
            <a:ext cx="1005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900" b="1">
                <a:solidFill>
                  <a:srgbClr val="1E2A24"/>
                </a:solidFill>
              </a:defRPr>
            </a:pPr>
            <a:r>
              <a:t>Policy docs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42816" y="1572768"/>
            <a:ext cx="10058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700" b="0">
                <a:solidFill>
                  <a:srgbClr val="5F6E64"/>
                </a:solidFill>
              </a:defRPr>
            </a:pPr>
            <a:r>
              <a:t>CPR passages</a:t>
            </a:r>
            <a:br/>
            <a:r>
              <a:t>Intervention path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303520" y="1385316"/>
            <a:ext cx="91440" cy="201168"/>
          </a:xfrm>
          <a:prstGeom prst="rightArrow">
            <a:avLst/>
          </a:prstGeom>
          <a:solidFill>
            <a:srgbClr val="48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394960" y="1005840"/>
            <a:ext cx="1115568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394960" y="1005840"/>
            <a:ext cx="1115568" cy="256032"/>
          </a:xfrm>
          <a:prstGeom prst="rect">
            <a:avLst/>
          </a:prstGeom>
          <a:solidFill>
            <a:srgbClr val="39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4960" y="1042416"/>
            <a:ext cx="1115568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900" b="1">
                <a:solidFill>
                  <a:srgbClr val="FFFFFF"/>
                </a:solidFill>
              </a:defRPr>
            </a:pPr>
            <a:r>
              <a:t>2:15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9824" y="1316736"/>
            <a:ext cx="1005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900" b="1">
                <a:solidFill>
                  <a:srgbClr val="1E2A24"/>
                </a:solidFill>
              </a:defRPr>
            </a:pPr>
            <a:r>
              <a:t>Policy Impact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49824" y="1572768"/>
            <a:ext cx="10058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700" b="0">
                <a:solidFill>
                  <a:srgbClr val="5F6E64"/>
                </a:solidFill>
              </a:defRPr>
            </a:pPr>
            <a:r>
              <a:t>KCI analogies</a:t>
            </a:r>
            <a:br/>
            <a:r>
              <a:t>Finance link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6510528" y="1385316"/>
            <a:ext cx="91440" cy="201168"/>
          </a:xfrm>
          <a:prstGeom prst="rightArrow">
            <a:avLst/>
          </a:prstGeom>
          <a:solidFill>
            <a:srgbClr val="48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601968" y="1005840"/>
            <a:ext cx="1115568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601968" y="1005840"/>
            <a:ext cx="1115568" cy="256032"/>
          </a:xfrm>
          <a:prstGeom prst="rect">
            <a:avLst/>
          </a:prstGeom>
          <a:solidFill>
            <a:srgbClr val="39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01968" y="1042416"/>
            <a:ext cx="1115568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900" b="1">
                <a:solidFill>
                  <a:srgbClr val="FFFFFF"/>
                </a:solidFill>
              </a:defRPr>
            </a:pPr>
            <a:r>
              <a:t>2:45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56832" y="1316736"/>
            <a:ext cx="1005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900" b="1">
                <a:solidFill>
                  <a:srgbClr val="1E2A24"/>
                </a:solidFill>
              </a:defRPr>
            </a:pPr>
            <a:r>
              <a:t>My Work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56832" y="1572768"/>
            <a:ext cx="10058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700" b="0">
                <a:solidFill>
                  <a:srgbClr val="5F6E64"/>
                </a:solidFill>
              </a:defRPr>
            </a:pPr>
            <a:r>
              <a:t>Activities queue</a:t>
            </a:r>
            <a:br/>
            <a:r>
              <a:t>Verifications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2167128"/>
            <a:ext cx="7863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1000" b="1">
                <a:solidFill>
                  <a:srgbClr val="396B4F"/>
                </a:solidFill>
              </a:defRPr>
            </a:pPr>
            <a:r>
              <a:t>Punchline: all six home modules — from observed emissions to policy evidence and delivery workflow.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" y="2624327"/>
            <a:ext cx="2514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6928" y="2624327"/>
            <a:ext cx="2514600" cy="54864"/>
          </a:xfrm>
          <a:prstGeom prst="rect">
            <a:avLst/>
          </a:prstGeom>
          <a:solidFill>
            <a:srgbClr val="39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2752343"/>
            <a:ext cx="236829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1000" b="1">
                <a:solidFill>
                  <a:srgbClr val="1E2A24"/>
                </a:solidFill>
              </a:defRPr>
            </a:pPr>
            <a:r>
              <a:t>Also in app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3026663"/>
            <a:ext cx="2368296" cy="3931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800" b="0">
                <a:solidFill>
                  <a:srgbClr val="5F6E64"/>
                </a:solidFill>
              </a:defRPr>
            </a:pPr>
            <a:r>
              <a:t>3D GIS map · NDC AI chatbot</a:t>
            </a:r>
            <a:br/>
            <a:r>
              <a:t>Finance &amp; MAC screening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64408" y="2624327"/>
            <a:ext cx="2514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264408" y="2624327"/>
            <a:ext cx="2514600" cy="54864"/>
          </a:xfrm>
          <a:prstGeom prst="rect">
            <a:avLst/>
          </a:prstGeom>
          <a:solidFill>
            <a:srgbClr val="39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37560" y="2752343"/>
            <a:ext cx="236829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1000" b="1">
                <a:solidFill>
                  <a:srgbClr val="1E2A24"/>
                </a:solidFill>
              </a:defRPr>
            </a:pPr>
            <a:r>
              <a:t>Challenges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37560" y="3026663"/>
            <a:ext cx="2368296" cy="3931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800" b="0">
                <a:solidFill>
                  <a:srgbClr val="5F6E64"/>
                </a:solidFill>
              </a:defRPr>
            </a:pPr>
            <a:r>
              <a:t>Mixed sources · API warm-up</a:t>
            </a:r>
            <a:br/>
            <a:r>
              <a:t>Not UNFCCC submission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961888" y="2624327"/>
            <a:ext cx="2514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961888" y="2624327"/>
            <a:ext cx="2514600" cy="54864"/>
          </a:xfrm>
          <a:prstGeom prst="rect">
            <a:avLst/>
          </a:prstGeom>
          <a:solidFill>
            <a:srgbClr val="39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35040" y="2752343"/>
            <a:ext cx="236829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1000" b="1">
                <a:solidFill>
                  <a:srgbClr val="1E2A24"/>
                </a:solidFill>
              </a:defRPr>
            </a:pPr>
            <a:r>
              <a:t>Live URL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35040" y="3026663"/>
            <a:ext cx="2368296" cy="3931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800" b="0">
                <a:solidFill>
                  <a:srgbClr val="5F6E64"/>
                </a:solidFill>
              </a:defRPr>
            </a:pPr>
            <a:r>
              <a:t>ndc-data-explorer-e051f914.vercel.app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82296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2000" b="1">
                <a:solidFill>
                  <a:srgbClr val="FFFFFF"/>
                </a:solidFill>
              </a:defRPr>
            </a:pPr>
            <a:r>
              <a:t>Challenges &amp; mitigations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2336"/>
            <a:ext cx="8229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000" b="0">
                <a:solidFill>
                  <a:srgbClr val="B4C8BE"/>
                </a:solidFill>
              </a:defRPr>
            </a:pPr>
            <a:r>
              <a:t>Honest limits of a prototype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736592"/>
            <a:ext cx="9144000" cy="370332"/>
          </a:xfrm>
          <a:prstGeom prst="rect">
            <a:avLst/>
          </a:prstGeom>
          <a:solidFill>
            <a:srgbClr val="1E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791456"/>
            <a:ext cx="6858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800" b="0">
                <a:solidFill>
                  <a:srgbClr val="B4C8BE"/>
                </a:solidFill>
              </a:defRPr>
            </a:pPr>
            <a:r>
              <a:t>Uganda NDC Data Explorer  ·  Demo 17 June 2026  ·  Data: Climate TRACE API v7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4791456"/>
            <a:ext cx="594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defRPr sz="9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749808"/>
            <a:ext cx="8229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841248"/>
            <a:ext cx="219456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000" b="1">
                <a:solidFill>
                  <a:srgbClr val="1E2A24"/>
                </a:solidFill>
              </a:defRPr>
            </a:pPr>
            <a:r>
              <a:t>Climate TRACE ≠ inventory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841248"/>
            <a:ext cx="576072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900" b="0">
                <a:solidFill>
                  <a:srgbClr val="5F6E64"/>
                </a:solidFill>
              </a:defRPr>
            </a:pPr>
            <a:r>
              <a:t>Open observed layer; label provenance clearly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35024"/>
            <a:ext cx="8229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426464"/>
            <a:ext cx="219456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000" b="1">
                <a:solidFill>
                  <a:srgbClr val="1E2A24"/>
                </a:solidFill>
              </a:defRPr>
            </a:pPr>
            <a:r>
              <a:t>API cold starts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426464"/>
            <a:ext cx="576072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900" b="0">
                <a:solidFill>
                  <a:srgbClr val="5F6E64"/>
                </a:solidFill>
              </a:defRPr>
            </a:pPr>
            <a:r>
              <a:t>Pre-warm dashboard, 3D GIS map, and NDC AI before stage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20240"/>
            <a:ext cx="8229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011680"/>
            <a:ext cx="219456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000" b="1">
                <a:solidFill>
                  <a:srgbClr val="1E2A24"/>
                </a:solidFill>
              </a:defRPr>
            </a:pPr>
            <a:r>
              <a:t>NDC AI availability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2011680"/>
            <a:ext cx="576072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900" b="0">
                <a:solidFill>
                  <a:srgbClr val="5F6E64"/>
                </a:solidFill>
              </a:defRPr>
            </a:pPr>
            <a:r>
              <a:t>Requires OPENAI_API_KEY on API server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505456"/>
            <a:ext cx="8229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596896"/>
            <a:ext cx="219456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000" b="1">
                <a:solidFill>
                  <a:srgbClr val="1E2A24"/>
                </a:solidFill>
              </a:defRPr>
            </a:pPr>
            <a:r>
              <a:t>Mixed data sources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2596896"/>
            <a:ext cx="576072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900" b="0">
                <a:solidFill>
                  <a:srgbClr val="5F6E64"/>
                </a:solidFill>
              </a:defRPr>
            </a:pPr>
            <a:r>
              <a:t>Curated NDC catalog + live API panels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090672"/>
            <a:ext cx="8229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182112"/>
            <a:ext cx="219456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000" b="1">
                <a:solidFill>
                  <a:srgbClr val="1E2A24"/>
                </a:solidFill>
              </a:defRPr>
            </a:pPr>
            <a:r>
              <a:t>Official reporting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3182112"/>
            <a:ext cx="576072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900" b="0">
                <a:solidFill>
                  <a:srgbClr val="5F6E64"/>
                </a:solidFill>
              </a:defRPr>
            </a:pPr>
            <a:r>
              <a:t>Briefing tool — not UNFCCC submission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82296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2000" b="1">
                <a:solidFill>
                  <a:srgbClr val="FFFFFF"/>
                </a:solidFill>
              </a:defRPr>
            </a:pPr>
            <a:r>
              <a:t>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2336"/>
            <a:ext cx="8229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000" b="0">
                <a:solidFill>
                  <a:srgbClr val="B4C8BE"/>
                </a:solidFill>
              </a:defRPr>
            </a:pPr>
            <a:r>
              <a:t>Scaling beyond Uganda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736592"/>
            <a:ext cx="9144000" cy="370332"/>
          </a:xfrm>
          <a:prstGeom prst="rect">
            <a:avLst/>
          </a:prstGeom>
          <a:solidFill>
            <a:srgbClr val="1E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791456"/>
            <a:ext cx="6858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800" b="0">
                <a:solidFill>
                  <a:srgbClr val="B4C8BE"/>
                </a:solidFill>
              </a:defRPr>
            </a:pPr>
            <a:r>
              <a:t>Uganda NDC Data Explorer  ·  Demo 17 June 2026  ·  Data: Climate TRACE API v7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4791456"/>
            <a:ext cx="594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defRPr sz="90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749808"/>
            <a:ext cx="260908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749808"/>
            <a:ext cx="2609088" cy="347472"/>
          </a:xfrm>
          <a:prstGeom prst="rect">
            <a:avLst/>
          </a:prstGeom>
          <a:solidFill>
            <a:srgbClr val="39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813816"/>
            <a:ext cx="238963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pPr>
            <a:r>
              <a:t>Policy paper 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188720"/>
            <a:ext cx="2389632" cy="24140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900" b="0">
                <a:solidFill>
                  <a:srgbClr val="1E2A24"/>
                </a:solidFill>
              </a:defRPr>
            </a:pPr>
            <a:r>
              <a:t>Searchable national policy corpus per country.</a:t>
            </a:r>
            <a:br/>
            <a:br/>
            <a:r>
              <a:t>Full-text search linked to NDC targets and Climate TRACE sectors.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67456" y="749808"/>
            <a:ext cx="260908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67456" y="749808"/>
            <a:ext cx="2609088" cy="347472"/>
          </a:xfrm>
          <a:prstGeom prst="rect">
            <a:avLst/>
          </a:prstGeom>
          <a:solidFill>
            <a:srgbClr val="39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77184" y="813816"/>
            <a:ext cx="238963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pPr>
            <a:r>
              <a:t>Mobile application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7184" y="1188720"/>
            <a:ext cx="2389632" cy="24140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900" b="0">
                <a:solidFill>
                  <a:srgbClr val="1E2A24"/>
                </a:solidFill>
              </a:defRPr>
            </a:pPr>
            <a:r>
              <a:t>Field MRV capture and district briefings.</a:t>
            </a:r>
            <a:br/>
            <a:br/>
            <a:r>
              <a:t>Offline views when API is unavailable.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77712" y="749808"/>
            <a:ext cx="260908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77712" y="749808"/>
            <a:ext cx="2609088" cy="347472"/>
          </a:xfrm>
          <a:prstGeom prst="rect">
            <a:avLst/>
          </a:prstGeom>
          <a:solidFill>
            <a:srgbClr val="39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87440" y="813816"/>
            <a:ext cx="238963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pPr>
            <a:r>
              <a:t>Multi-country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7440" y="1188720"/>
            <a:ext cx="2389632" cy="24140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900" b="0">
                <a:solidFill>
                  <a:srgbClr val="1E2A24"/>
                </a:solidFill>
              </a:defRPr>
            </a:pPr>
            <a:r>
              <a:t>Replicate cockpit for other NDCs.</a:t>
            </a:r>
            <a:br/>
            <a:br/>
            <a:r>
              <a:t>Shared Climate TRACE v7 pipeline; country strategy layers.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315968"/>
            <a:ext cx="82296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900" b="0">
                <a:solidFill>
                  <a:srgbClr val="5F6E64"/>
                </a:solidFill>
              </a:defRPr>
            </a:pPr>
            <a:r>
              <a:t>Questions?  ·  https://ndc-data-explorer-e051f914.vercel.app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