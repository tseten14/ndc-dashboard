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9144000" cy="1440180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3200" b="1">
                <a:solidFill>
                  <a:srgbClr val="FFFFFF"/>
                </a:solidFill>
              </a:defRPr>
            </a:pPr>
            <a:r>
              <a:t>Uganda NDC Data Explorer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8229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400" b="0">
                <a:solidFill>
                  <a:srgbClr val="B4C8BE"/>
                </a:solidFill>
              </a:defRPr>
            </a:pPr>
            <a:r>
              <a:t>Decision-support cockpit · powered by Climate TRACE API v7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23160"/>
            <a:ext cx="8229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0">
                <a:solidFill>
                  <a:srgbClr val="B4C8BE"/>
                </a:solidFill>
              </a:defRPr>
            </a:pPr>
            <a:r>
              <a:t>Climate TRACE API  →  3D GIS map  →  NDC AI chatbot  →  policy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Stack: React · Express (Node) · Climate TRACE API v7 · OpenAI · MapLibre GL · Vercel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86200"/>
            <a:ext cx="8229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0">
                <a:solidFill>
                  <a:srgbClr val="FFFFFF"/>
                </a:solidFill>
              </a:defRPr>
            </a:pPr>
            <a:r>
              <a:t>Date: 17 June 2026</a:t>
            </a:r>
            <a:br/>
            <a:r>
              <a:t>Presented by: Tseten Sherpa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From static NDCs to operational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59536"/>
            <a:ext cx="7955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1E2A24"/>
                </a:solidFill>
              </a:defRPr>
            </a:pPr>
            <a:r>
              <a:t>Today: ministries assemble answers manually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252728"/>
            <a:ext cx="169164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252728"/>
            <a:ext cx="16916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380744"/>
            <a:ext cx="15453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NDC PDFs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1655064"/>
            <a:ext cx="154533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Targets &amp; pledges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06040" y="1554480"/>
            <a:ext cx="18288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88920" y="1252728"/>
            <a:ext cx="169164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252728"/>
            <a:ext cx="16916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1380744"/>
            <a:ext cx="15453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Spreadsheets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2072" y="1655064"/>
            <a:ext cx="154533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Sector data silos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480560" y="1554480"/>
            <a:ext cx="18288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63440" y="1252728"/>
            <a:ext cx="169164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1252728"/>
            <a:ext cx="16916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1380744"/>
            <a:ext cx="15453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Email / MRV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1655064"/>
            <a:ext cx="154533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Fragmented evidence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355080" y="1554480"/>
            <a:ext cx="18288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37960" y="1252728"/>
            <a:ext cx="169164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37960" y="1252728"/>
            <a:ext cx="16916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11112" y="1380744"/>
            <a:ext cx="15453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Weeks of 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1655064"/>
            <a:ext cx="154533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Before any briefing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4471416" y="2258568"/>
            <a:ext cx="201168" cy="320040"/>
          </a:xfrm>
          <a:prstGeom prst="down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642616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396B4F"/>
                </a:solidFill>
              </a:defRPr>
            </a:pPr>
            <a:r>
              <a:t>Five operational questions — unanswered in real time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Where are we today?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36292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91156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What moves the needle?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63340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18204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Policy impact?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90388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5252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Gaps vs target?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17436" y="297180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72300" y="3136392"/>
            <a:ext cx="130759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What to prioritise?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160520"/>
            <a:ext cx="7955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Our answer: link Uganda's NDC layer to live observed emissions via the Climate TRACE API — not another static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Cockpit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Five linked columns — one decision workspace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246120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069848"/>
            <a:ext cx="14173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069848"/>
            <a:ext cx="14173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1 · Targets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NDC pledges</a:t>
            </a:r>
            <a:br/>
            <a:r>
              <a:t>Sector filters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194560" y="1581912"/>
            <a:ext cx="10972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304288" y="1069848"/>
            <a:ext cx="14173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04288" y="1069848"/>
            <a:ext cx="14173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2 · 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Measures &amp; owners</a:t>
            </a:r>
            <a:br/>
            <a:r>
              <a:t>Implementation catalog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721608" y="1581912"/>
            <a:ext cx="10972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31336" y="1069848"/>
            <a:ext cx="1417320" cy="1234440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31336" y="1069848"/>
            <a:ext cx="141732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4488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3 · Observed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4488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Climate TRACE API</a:t>
            </a:r>
            <a:br/>
            <a:r>
              <a:t>Live MtCO₂e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248656" y="1581912"/>
            <a:ext cx="10972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358384" y="1069848"/>
            <a:ext cx="14173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58384" y="1069848"/>
            <a:ext cx="14173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1536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4 · Progress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536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On-track scoring</a:t>
            </a:r>
            <a:br/>
            <a:r>
              <a:t>Gap vs 2030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775704" y="1581912"/>
            <a:ext cx="10972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85432" y="1069848"/>
            <a:ext cx="14173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85432" y="1069848"/>
            <a:ext cx="14173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58584" y="1197864"/>
            <a:ext cx="12710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5 · Options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8584" y="1472184"/>
            <a:ext cx="1271016" cy="758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Mitigation paths</a:t>
            </a:r>
            <a:br/>
            <a:r>
              <a:t>Finance scenarios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2624327"/>
            <a:ext cx="1874519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2624327"/>
            <a:ext cx="1874519" cy="54864"/>
          </a:xfrm>
          <a:prstGeom prst="rect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752343"/>
            <a:ext cx="1728215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Uganda NDC catalog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3026663"/>
            <a:ext cx="1728215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Curated targets &amp; strategies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2624327"/>
            <a:ext cx="1874519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97480" y="2624327"/>
            <a:ext cx="1874519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2752343"/>
            <a:ext cx="1728215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 v7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0632" y="3026663"/>
            <a:ext cx="1728215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api.climatetrace.org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0" y="2624327"/>
            <a:ext cx="1874519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54880" y="2624327"/>
            <a:ext cx="1874519" cy="54864"/>
          </a:xfrm>
          <a:prstGeom prst="rect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28032" y="2752343"/>
            <a:ext cx="1728215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3D GIS map tab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28032" y="3026663"/>
            <a:ext cx="1728215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Satellite terrain</a:t>
            </a:r>
            <a:br/>
            <a:r>
              <a:t>Emission bubbles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12280" y="2624327"/>
            <a:ext cx="1874519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12280" y="2624327"/>
            <a:ext cx="1874519" cy="54864"/>
          </a:xfrm>
          <a:prstGeom prst="rect">
            <a:avLst/>
          </a:prstGeom>
          <a:solidFill>
            <a:srgbClr val="B48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85432" y="2752343"/>
            <a:ext cx="1728215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NDC AI chatbot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85432" y="3026663"/>
            <a:ext cx="1728215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Grounded briefing</a:t>
            </a:r>
            <a:br/>
            <a:r>
              <a:t>OpenAI + citations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1554480" y="2304288"/>
            <a:ext cx="0" cy="320039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611880" y="2304288"/>
            <a:ext cx="0" cy="320039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80" y="2304288"/>
            <a:ext cx="0" cy="320039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4360" y="3630168"/>
            <a:ext cx="79552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Observed column + Emissions Map + NDC AI share one Climate TRACE pipeline — charts, 3D GIS bubbles, and chat answers cite the same live API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Browser → API → live data — same code local and on Vercel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877824"/>
            <a:ext cx="79552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877824"/>
            <a:ext cx="1371600" cy="914400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987552"/>
            <a:ext cx="1188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FFFFFF"/>
                </a:solidFill>
              </a:defRPr>
            </a:pPr>
            <a: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42646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700" b="0">
                <a:solidFill>
                  <a:srgbClr val="DCE4E0"/>
                </a:solidFill>
              </a:defRPr>
            </a:pPr>
            <a:r>
              <a:t>React SPA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1024128"/>
            <a:ext cx="154990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21408" y="1097280"/>
            <a:ext cx="14584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1408" y="1335024"/>
            <a:ext cx="145846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Targets · observed · progress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17036" y="1024128"/>
            <a:ext cx="154990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2756" y="1097280"/>
            <a:ext cx="14584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Emissions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2756" y="1335024"/>
            <a:ext cx="145846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3D GIS bubbles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58384" y="1024128"/>
            <a:ext cx="154990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4104" y="1097280"/>
            <a:ext cx="14584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Policy /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1335024"/>
            <a:ext cx="145846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Pathways · MAC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9732" y="1024128"/>
            <a:ext cx="154990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5452" y="1097280"/>
            <a:ext cx="14584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NDC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5452" y="1335024"/>
            <a:ext cx="145846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Grounded chat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212080" y="1810512"/>
            <a:ext cx="201168" cy="237744"/>
          </a:xfrm>
          <a:prstGeom prst="down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13248" y="1792224"/>
            <a:ext cx="29260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same-origin /api/v1 · React Query cache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2084832"/>
            <a:ext cx="79552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2084832"/>
            <a:ext cx="1371600" cy="914400"/>
          </a:xfrm>
          <a:prstGeom prst="rect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194560"/>
            <a:ext cx="1188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FFFFFF"/>
                </a:solidFill>
              </a:defRPr>
            </a:pPr>
            <a:r>
              <a:t>API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633472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700" b="0">
                <a:solidFill>
                  <a:srgbClr val="DCE4E0"/>
                </a:solidFill>
              </a:defRPr>
            </a:pPr>
            <a:r>
              <a:t>Express · Node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75688" y="2231136"/>
            <a:ext cx="122163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21408" y="2304288"/>
            <a:ext cx="113019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emissions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21408" y="2542032"/>
            <a:ext cx="113019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TRACE aggregation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8766" y="2231136"/>
            <a:ext cx="122163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34486" y="2304288"/>
            <a:ext cx="113019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34486" y="2542032"/>
            <a:ext cx="113019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CPR corpus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01844" y="2231136"/>
            <a:ext cx="122163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47564" y="2304288"/>
            <a:ext cx="113019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policyImpact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47564" y="2542032"/>
            <a:ext cx="113019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KCI matching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14923" y="2231136"/>
            <a:ext cx="122163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0643" y="2304288"/>
            <a:ext cx="113019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ingest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60643" y="2542032"/>
            <a:ext cx="113019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Mapped import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28001" y="2231136"/>
            <a:ext cx="122163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73721" y="2304288"/>
            <a:ext cx="113019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dashboardAi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3721" y="2542032"/>
            <a:ext cx="113019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OpenAI proxy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5212080" y="3017520"/>
            <a:ext cx="201168" cy="237744"/>
          </a:xfrm>
          <a:prstGeom prst="down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" y="3291840"/>
            <a:ext cx="79552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" y="3291840"/>
            <a:ext cx="1371600" cy="914400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401568"/>
            <a:ext cx="1188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FFFFFF"/>
                </a:solidFill>
              </a:defRPr>
            </a:pPr>
            <a:r>
              <a:t>Data sources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38404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700" b="0">
                <a:solidFill>
                  <a:srgbClr val="DCE4E0"/>
                </a:solidFill>
              </a:defRPr>
            </a:pPr>
            <a:r>
              <a:t>live + versioned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75688" y="3438144"/>
            <a:ext cx="1549908" cy="62179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21408" y="3511296"/>
            <a:ext cx="14584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Climate TRACE v7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21408" y="3749040"/>
            <a:ext cx="145846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Live emissions API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17036" y="3438144"/>
            <a:ext cx="1549908" cy="62179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62756" y="3511296"/>
            <a:ext cx="14584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NDC catalog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62756" y="3749040"/>
            <a:ext cx="145846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Repo-versioned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358384" y="3438144"/>
            <a:ext cx="1549908" cy="62179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04104" y="3511296"/>
            <a:ext cx="14584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Postgres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04104" y="3749040"/>
            <a:ext cx="145846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Optional ingest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999732" y="3438144"/>
            <a:ext cx="1549908" cy="62179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45452" y="3511296"/>
            <a:ext cx="14584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OpenAI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5452" y="3749040"/>
            <a:ext cx="145846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gpt-4o-mini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Climate TRACE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Live observed emissions — API v7 (CC BY 4.0)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841248"/>
            <a:ext cx="1828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1">
                <a:solidFill>
                  <a:srgbClr val="5F6E64"/>
                </a:solidFill>
              </a:defRPr>
            </a:pPr>
            <a:r>
              <a:t>EMISSIONS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097280"/>
            <a:ext cx="1783080" cy="658368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097280"/>
            <a:ext cx="178308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25296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Satellite 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499616"/>
            <a:ext cx="163677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Land &amp; power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847088"/>
            <a:ext cx="1783080" cy="658368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847088"/>
            <a:ext cx="178308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97510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Facility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249424"/>
            <a:ext cx="163677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Power &amp; industry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596896"/>
            <a:ext cx="1783080" cy="658368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2596896"/>
            <a:ext cx="178308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724912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Transport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999232"/>
            <a:ext cx="163677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Road &amp; aviation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46704"/>
            <a:ext cx="1783080" cy="658368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46704"/>
            <a:ext cx="178308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474720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AFOLU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749040"/>
            <a:ext cx="163677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Land use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8920" y="1252728"/>
            <a:ext cx="30632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88920" y="1252728"/>
            <a:ext cx="3063240" cy="384048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98648" y="1325880"/>
            <a:ext cx="2843784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300" b="1">
                <a:solidFill>
                  <a:srgbClr val="FFFFFF"/>
                </a:solidFill>
              </a:defRPr>
            </a:pPr>
            <a:r>
              <a:t>Climate TRACE API v7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1728216"/>
            <a:ext cx="2788920" cy="1874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•  GET /v7/sources/emissions — sector timeseries</a:t>
            </a:r>
            <a:br/>
            <a:r>
              <a:t>•  GET /v7/sources — asset-level map points</a:t>
            </a:r>
            <a:br/>
            <a:r>
              <a:t>•  GET /v7/rankings/countries — national totals</a:t>
            </a:r>
            <a:br/>
            <a:r>
              <a:t>•  GADM2 districts — Uganda disaggregation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3328416"/>
            <a:ext cx="2788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2E78A0"/>
                </a:solidFill>
              </a:defRPr>
            </a:pPr>
            <a:r>
              <a:t>https://api.climatetrace.org/v7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350007" y="1426464"/>
            <a:ext cx="438913" cy="1014984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350007" y="2176272"/>
            <a:ext cx="438913" cy="265176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50007" y="2441448"/>
            <a:ext cx="438913" cy="484632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350007" y="2441448"/>
            <a:ext cx="438913" cy="1234440"/>
          </a:xfrm>
          <a:prstGeom prst="line">
            <a:avLst/>
          </a:prstGeom>
          <a:ln w="19050">
            <a:solidFill>
              <a:srgbClr val="488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263640" y="1097280"/>
            <a:ext cx="22402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097280"/>
            <a:ext cx="22402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1225296"/>
            <a:ext cx="20939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Express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6792" y="1499616"/>
            <a:ext cx="209397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Node.js backend</a:t>
            </a:r>
            <a:br/>
            <a:r>
              <a:t>Cache &amp; provenance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5852160" y="1399032"/>
            <a:ext cx="38404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263640" y="2029968"/>
            <a:ext cx="22402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2029968"/>
            <a:ext cx="22402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6792" y="2157984"/>
            <a:ext cx="20939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Postgres / seed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6792" y="2432304"/>
            <a:ext cx="209397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MtCO₂e store</a:t>
            </a:r>
            <a:br/>
            <a:r>
              <a:t>/api/v1/provenance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5852160" y="2331720"/>
            <a:ext cx="38404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263640" y="2962656"/>
            <a:ext cx="22402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962656"/>
            <a:ext cx="22402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36792" y="3090672"/>
            <a:ext cx="20939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React cockpit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36792" y="3364992"/>
            <a:ext cx="209397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Dashboard · 3D GIS</a:t>
            </a:r>
            <a:br/>
            <a:r>
              <a:t>NDC AI chatbot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5852160" y="3264408"/>
            <a:ext cx="384048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096512"/>
            <a:ext cx="801014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In the app: every observed chart shows Climate TRACE provenance — click a bar to trace the source. Not a national inventory replacement; open observed layer for briefing.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Three layers of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What is official, what is observed, what is indicative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896112"/>
            <a:ext cx="7955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896112"/>
            <a:ext cx="109728" cy="7132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987552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396B4F"/>
                </a:solidFill>
              </a:defRPr>
            </a:pPr>
            <a:r>
              <a:t>1 · Official pledges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261872"/>
            <a:ext cx="58521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50" b="0">
                <a:solidFill>
                  <a:srgbClr val="1E2A24"/>
                </a:solidFill>
              </a:defRPr>
            </a:pPr>
            <a:r>
              <a:t>Uganda Updated NDC 2022 targets + curated activity catalogue — versioned in the repo.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097280"/>
            <a:ext cx="1005840" cy="310896"/>
          </a:xfrm>
          <a:prstGeom prst="round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1143000"/>
            <a:ext cx="1005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1">
                <a:solidFill>
                  <a:srgbClr val="FFFFFF"/>
                </a:solidFill>
              </a:defRPr>
            </a:pPr>
            <a:r>
              <a:t>BUNDLED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1737360"/>
            <a:ext cx="7955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1737360"/>
            <a:ext cx="109728" cy="713232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82880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2E78A0"/>
                </a:solidFill>
              </a:defRPr>
            </a:pPr>
            <a:r>
              <a:t>2 · Observed emissions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103120"/>
            <a:ext cx="58521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50" b="0">
                <a:solidFill>
                  <a:srgbClr val="1E2A24"/>
                </a:solidFill>
              </a:defRPr>
            </a:pPr>
            <a:r>
              <a:t>Climate TRACE API v7 — live MtCO₂e on Dashboard &amp; 3D GIS Map; national 2015+, district 2021+.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1938528"/>
            <a:ext cx="1005840" cy="310896"/>
          </a:xfrm>
          <a:prstGeom prst="round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984248"/>
            <a:ext cx="1005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1">
                <a:solidFill>
                  <a:srgbClr val="FFFFFF"/>
                </a:solidFill>
              </a:defRPr>
            </a:pPr>
            <a:r>
              <a:t>LIVE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578608"/>
            <a:ext cx="7955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2578608"/>
            <a:ext cx="109728" cy="713232"/>
          </a:xfrm>
          <a:prstGeom prst="rect">
            <a:avLst/>
          </a:prstGeom>
          <a:solidFill>
            <a:srgbClr val="B48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670048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B48228"/>
                </a:solidFill>
              </a:defRPr>
            </a:pPr>
            <a:r>
              <a:t>3 · Evidence &amp; screening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2944368"/>
            <a:ext cx="58521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50" b="0">
                <a:solidFill>
                  <a:srgbClr val="1E2A24"/>
                </a:solidFill>
              </a:defRPr>
            </a:pPr>
            <a:r>
              <a:t>Policy docs (CPR export), indicative finance (MAC), Policy Impact (KCI analogies), pathway diagrams.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2779776"/>
            <a:ext cx="1005840" cy="310896"/>
          </a:xfrm>
          <a:prstGeom prst="roundRect">
            <a:avLst/>
          </a:prstGeom>
          <a:solidFill>
            <a:srgbClr val="B48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2825496"/>
            <a:ext cx="1005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1">
                <a:solidFill>
                  <a:srgbClr val="FFFFFF"/>
                </a:solidFill>
              </a:defRPr>
            </a:pPr>
            <a:r>
              <a:t>INDICATIVE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419856"/>
            <a:ext cx="7955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3419856"/>
            <a:ext cx="109728" cy="713232"/>
          </a:xfrm>
          <a:prstGeom prst="rect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11296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48825F"/>
                </a:solidFill>
              </a:defRPr>
            </a:pPr>
            <a:r>
              <a:t>4 · Ministry uploads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785616"/>
            <a:ext cx="58521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50" b="0">
                <a:solidFill>
                  <a:srgbClr val="1E2A24"/>
                </a:solidFill>
              </a:defRPr>
            </a:pPr>
            <a:r>
              <a:t>Mapped ingest observations on indicator targets — provenance badge shown when Postgres is configured.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3621024"/>
            <a:ext cx="1005840" cy="310896"/>
          </a:xfrm>
          <a:prstGeom prst="roundRect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60" y="3666744"/>
            <a:ext cx="1005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1">
                <a:solidFill>
                  <a:srgbClr val="FFFFFF"/>
                </a:solidFill>
              </a:defRPr>
            </a:pPr>
            <a:r>
              <a:t>OPTIONAL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279392"/>
            <a:ext cx="7955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Intended outcomes (targets, pathways) stay visually distinct from measured outcomes (Climate TRACE).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Live product — NDC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Observed emissions linked to NDC targets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749808"/>
            <a:ext cx="553212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board-trans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191863"/>
            <a:ext cx="5385816" cy="302952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749808"/>
            <a:ext cx="251460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749808"/>
            <a:ext cx="2514600" cy="32918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804672"/>
            <a:ext cx="229514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On screen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216" y="1207008"/>
            <a:ext cx="22585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50" b="1">
                <a:solidFill>
                  <a:srgbClr val="396B4F"/>
                </a:solidFill>
              </a:defRPr>
            </a:pPr>
            <a:r>
              <a:t>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1408176"/>
            <a:ext cx="225856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Uganda NDC 2022 pledges by 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1773936"/>
            <a:ext cx="22585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50" b="1">
                <a:solidFill>
                  <a:srgbClr val="396B4F"/>
                </a:solidFill>
              </a:defRPr>
            </a:pPr>
            <a: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975104"/>
            <a:ext cx="225856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Live Climate TRACE MtCO₂e timeseries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340864"/>
            <a:ext cx="22585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50" b="1">
                <a:solidFill>
                  <a:srgbClr val="396B4F"/>
                </a:solidFill>
              </a:defRPr>
            </a:pPr>
            <a:r>
              <a:t>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542032"/>
            <a:ext cx="225856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On-track status vs 2030 ceiling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907792"/>
            <a:ext cx="22585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50" b="1">
                <a:solidFill>
                  <a:srgbClr val="396B4F"/>
                </a:solidFill>
              </a:defRPr>
            </a:pPr>
            <a:r>
              <a:t>NDC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3108960"/>
            <a:ext cx="225856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Ask a grounded question in plain language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474720"/>
            <a:ext cx="22585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50" b="1">
                <a:solidFill>
                  <a:srgbClr val="396B4F"/>
                </a:solidFill>
              </a:defRPr>
            </a:pPr>
            <a: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3675888"/>
            <a:ext cx="225856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Click any bar to trace the source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NDC AI &amp; 3D GIS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Intelligence and spatial views on Climate TRACE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859536"/>
            <a:ext cx="40233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859536"/>
            <a:ext cx="4023360" cy="32918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914400"/>
            <a:ext cx="38039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3D GIS representation — Emissions 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298448"/>
            <a:ext cx="1234440" cy="713232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1298448"/>
            <a:ext cx="123444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</a:t>
            </a:r>
            <a:br/>
            <a:r>
              <a:t>/v7/sources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Asset geo-points</a:t>
            </a:r>
            <a:br/>
            <a:r>
              <a:t>per sector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828800" y="1554480"/>
            <a:ext cx="914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20240" y="1298448"/>
            <a:ext cx="1234440" cy="713232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20240" y="1298448"/>
            <a:ext cx="123444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9339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MapLibre 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9339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Satellite imagery</a:t>
            </a:r>
            <a:br/>
            <a:r>
              <a:t>Terrain DEM 3D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54680" y="1554480"/>
            <a:ext cx="914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46120" y="1298448"/>
            <a:ext cx="1234440" cy="713232"/>
          </a:xfrm>
          <a:prstGeom prst="roundRect">
            <a:avLst/>
          </a:prstGeom>
          <a:solidFill>
            <a:srgbClr val="E6F2F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46120" y="1298448"/>
            <a:ext cx="1234440" cy="54864"/>
          </a:xfrm>
          <a:prstGeom prst="rect">
            <a:avLst/>
          </a:prstGeom>
          <a:solidFill>
            <a:srgbClr val="2E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927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GIS bubbles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927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Size ∝ MtCO₂e</a:t>
            </a:r>
            <a:br/>
            <a:r>
              <a:t>District overlay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2121408"/>
            <a:ext cx="3749040" cy="1874520"/>
          </a:xfrm>
          <a:prstGeom prst="roundRect">
            <a:avLst/>
          </a:prstGeom>
          <a:solidFill>
            <a:srgbClr val="0C1018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ap-uga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64" y="2157984"/>
            <a:ext cx="3202432" cy="180136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663440" y="859536"/>
            <a:ext cx="40233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859536"/>
            <a:ext cx="4023360" cy="32918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914400"/>
            <a:ext cx="38039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NDC AI chatbot — dashboard sidebar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1298448"/>
            <a:ext cx="1234440" cy="71323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00600" y="1298448"/>
            <a:ext cx="12344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7375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User question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7375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Plain language</a:t>
            </a:r>
            <a:br/>
            <a:r>
              <a:t>'Transport on track?'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035040" y="1554480"/>
            <a:ext cx="914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26480" y="1298448"/>
            <a:ext cx="1234440" cy="71323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0" y="1298448"/>
            <a:ext cx="12344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Context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Sector · target</a:t>
            </a:r>
            <a:br/>
            <a:r>
              <a:t>TRACE progress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360920" y="1554480"/>
            <a:ext cx="914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452360" y="1298448"/>
            <a:ext cx="1234440" cy="713232"/>
          </a:xfrm>
          <a:prstGeom prst="roundRect">
            <a:avLst/>
          </a:prstGeom>
          <a:solidFill>
            <a:srgbClr val="EBF5EE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52360" y="1298448"/>
            <a:ext cx="123444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1426464"/>
            <a:ext cx="108813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OpenAI 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25512" y="1700784"/>
            <a:ext cx="1088136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Grounded answer</a:t>
            </a:r>
            <a:br/>
            <a:r>
              <a:t>With citations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00600" y="2121408"/>
            <a:ext cx="3749040" cy="1874520"/>
          </a:xfrm>
          <a:prstGeom prst="roundRect">
            <a:avLst/>
          </a:prstGeom>
          <a:solidFill>
            <a:srgbClr val="F8FAF9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19472" y="2249424"/>
            <a:ext cx="352044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1E2A24"/>
                </a:solidFill>
              </a:defRPr>
            </a:pPr>
            <a:r>
              <a:t>▸  Opens from Progress column → NDC AI button</a:t>
            </a:r>
            <a:br/>
            <a:r>
              <a:t>▸  Tab key fills an example question</a:t>
            </a:r>
            <a:br/>
            <a:r>
              <a:t>▸  Answers cite Climate TRACE + NDC panels</a:t>
            </a:r>
            <a:br/>
            <a:r>
              <a:t>▸  Senior Decision-Maker briefing mode</a:t>
            </a:r>
            <a:br/>
            <a:r>
              <a:t>▸  Not a generic chatbot — country-specific context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224528"/>
            <a:ext cx="801014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Both modules sit on the same Climate TRACE API v7 feed — spatial GIS for where emissions occur, NDC AI for why it matters against Uganda's pledges.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From satellite to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How observed data reaches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978408"/>
            <a:ext cx="1783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978408"/>
            <a:ext cx="17830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10642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</a:t>
            </a:r>
            <a:br/>
            <a:r>
              <a:t>ingests signals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380744"/>
            <a:ext cx="1636776" cy="484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Monthly updates</a:t>
            </a:r>
            <a:br/>
            <a:r>
              <a:t>100+ countries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42032" y="1357884"/>
            <a:ext cx="164592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06624" y="978408"/>
            <a:ext cx="1783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06624" y="978408"/>
            <a:ext cx="17830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776" y="110642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API v7 serves</a:t>
            </a:r>
            <a:br/>
            <a:r>
              <a:t>Uganda sectors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9776" y="1380744"/>
            <a:ext cx="1636776" cy="484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Transport · Energy</a:t>
            </a:r>
            <a:br/>
            <a:r>
              <a:t>AFOLU · Waste…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89704" y="1357884"/>
            <a:ext cx="164592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54296" y="978408"/>
            <a:ext cx="1783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54296" y="978408"/>
            <a:ext cx="17830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27448" y="110642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App reconciles</a:t>
            </a:r>
            <a:br/>
            <a:r>
              <a:t>vs NDC targets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7448" y="1380744"/>
            <a:ext cx="1636776" cy="484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Progress % · gaps</a:t>
            </a:r>
            <a:br/>
            <a:r>
              <a:t>District views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437376" y="1357884"/>
            <a:ext cx="164592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01968" y="978408"/>
            <a:ext cx="1783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01968" y="978408"/>
            <a:ext cx="178308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106424"/>
            <a:ext cx="163677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Decision-maker</a:t>
            </a:r>
            <a:br/>
            <a:r>
              <a:t>briefing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1380744"/>
            <a:ext cx="1636776" cy="484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Dashboard · Map</a:t>
            </a:r>
            <a:br/>
            <a:r>
              <a:t>NDC AI · Finance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2167128"/>
            <a:ext cx="3840480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ap-uga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307717"/>
            <a:ext cx="3694176" cy="207797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617720" y="2167128"/>
            <a:ext cx="3931920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2304288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396B4F"/>
                </a:solidFill>
              </a:defRPr>
            </a:pPr>
            <a:r>
              <a:t>What users see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624328"/>
            <a:ext cx="3657600" cy="1810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▸  Live Climate TRACE banner on dashboard</a:t>
            </a:r>
            <a:br/>
            <a:br/>
            <a:r>
              <a:t>▸  Sector timeseries charts (MtCO₂e)</a:t>
            </a:r>
            <a:br/>
            <a:br/>
            <a:r>
              <a:t>▸  3D GIS map — satellite terrain + emission bubbles</a:t>
            </a:r>
            <a:br/>
            <a:br/>
            <a:r>
              <a:t>▸  NDC AI chatbot — grounded briefing with citations</a:t>
            </a:r>
            <a:br/>
            <a:br/>
            <a:r>
              <a:t>▸  Progress ring vs 2030 NDC pledge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Policy &amp; finance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From observed gaps to investment scenarios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749808"/>
            <a:ext cx="4005072" cy="3044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cuments-path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804672"/>
            <a:ext cx="3895344" cy="21911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483864"/>
            <a:ext cx="37856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Interventions → outcomes, traced to NDC targets (TEF logic model).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81728" y="749808"/>
            <a:ext cx="4005072" cy="3044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imate-fi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804672"/>
            <a:ext cx="3895344" cy="21911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91456" y="3483864"/>
            <a:ext cx="37856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Indicative MAC — abatement cost vs potential; fund + MCF hints.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" y="3904488"/>
            <a:ext cx="23317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" y="3904488"/>
            <a:ext cx="23317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" y="4032504"/>
            <a:ext cx="21854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" y="4306824"/>
            <a:ext cx="2185416" cy="91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Observed gaps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86100" y="4087368"/>
            <a:ext cx="3200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06140" y="3904488"/>
            <a:ext cx="23317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6140" y="3904488"/>
            <a:ext cx="23317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9292" y="4032504"/>
            <a:ext cx="21854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Policy 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9292" y="4306824"/>
            <a:ext cx="2185416" cy="91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Intervention map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737860" y="4087368"/>
            <a:ext cx="320040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57900" y="3904488"/>
            <a:ext cx="23317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57900" y="3904488"/>
            <a:ext cx="233172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1052" y="4032504"/>
            <a:ext cx="218541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Finance MAC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31052" y="4306824"/>
            <a:ext cx="2185416" cy="91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Abatement cost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5-minute live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Suggested flow — Uganda · Transport sector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3913632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Transport sector</a:t>
            </a:r>
            <a:br/>
            <a:r>
              <a:t>Climate TRACE data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057400" y="1495044"/>
            <a:ext cx="128016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85416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85416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85416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3D GIS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Emissions Map tab</a:t>
            </a:r>
            <a:br/>
            <a:r>
              <a:t>Satellite · bubbles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02736" y="1495044"/>
            <a:ext cx="128016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30752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30752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0752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1:45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5616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Documents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5616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Policy pathway</a:t>
            </a:r>
            <a:br/>
            <a:r>
              <a:t>NDC linkage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148072" y="1495044"/>
            <a:ext cx="128016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6088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76088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76088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2:10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0952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0952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Cost &amp; abatement</a:t>
            </a:r>
            <a:br/>
            <a:r>
              <a:t>MAC chart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693408" y="1495044"/>
            <a:ext cx="128016" cy="201168"/>
          </a:xfrm>
          <a:prstGeom prst="rightArrow">
            <a:avLst/>
          </a:prstGeom>
          <a:solidFill>
            <a:srgbClr val="4882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1424" y="1069848"/>
            <a:ext cx="1417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21424" y="1069848"/>
            <a:ext cx="1417320" cy="25603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1424" y="1106424"/>
            <a:ext cx="14173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2:40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1380744"/>
            <a:ext cx="130759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1">
                <a:solidFill>
                  <a:srgbClr val="1E2A24"/>
                </a:solidFill>
              </a:defRPr>
            </a:pPr>
            <a:r>
              <a:t>NDC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1636776"/>
            <a:ext cx="130759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700" b="0">
                <a:solidFill>
                  <a:srgbClr val="5F6E64"/>
                </a:solidFill>
              </a:defRPr>
            </a:pPr>
            <a:r>
              <a:t>Chatbot briefing</a:t>
            </a:r>
            <a:br/>
            <a:r>
              <a:t>Tab → 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2350008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396B4F"/>
                </a:solidFill>
              </a:defRPr>
            </a:pPr>
            <a:r>
              <a:t>Punchline: from reporting to decision support — one operational system for NDC delivery.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2807208"/>
            <a:ext cx="2514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2807208"/>
            <a:ext cx="251460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2935224"/>
            <a:ext cx="236829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Challenges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3209544"/>
            <a:ext cx="2368296" cy="3931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Mixed sources · API warm-up</a:t>
            </a:r>
            <a:br/>
            <a:r>
              <a:t>Not UNFCCC submission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37560" y="2807208"/>
            <a:ext cx="2514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37560" y="2807208"/>
            <a:ext cx="251460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10712" y="2935224"/>
            <a:ext cx="236829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Future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10712" y="3209544"/>
            <a:ext cx="2368296" cy="3931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Policy corpus per country</a:t>
            </a:r>
            <a:br/>
            <a:r>
              <a:t>Mobile MRV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2807208"/>
            <a:ext cx="2514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2807208"/>
            <a:ext cx="2514600" cy="54864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08192" y="2935224"/>
            <a:ext cx="236829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Live URL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08192" y="3209544"/>
            <a:ext cx="2368296" cy="3931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800" b="0">
                <a:solidFill>
                  <a:srgbClr val="5F6E64"/>
                </a:solidFill>
              </a:defRPr>
            </a:pPr>
            <a:r>
              <a:t>ndc-data-explorer-e051f914.vercel.app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Challenges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Honest limits of a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841248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Climate TRACE ≠ inventory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841248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Open observed layer; label provenance clearly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35024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26464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API cold starts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426464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Pre-warm dashboard, 3D GIS map, and NDC AI before stage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11680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NDC AI availability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011680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Requires OPENAI_API_KEY on API server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05456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596896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Mixed data 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596896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Curated NDC catalog + live API panels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90672"/>
            <a:ext cx="8229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182112"/>
            <a:ext cx="2194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1">
                <a:solidFill>
                  <a:srgbClr val="1E2A24"/>
                </a:solidFill>
              </a:defRPr>
            </a:pPr>
            <a:r>
              <a:t>Official 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182112"/>
            <a:ext cx="576072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Briefing tool — not UNFCCC submission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82296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2000" b="1">
                <a:solidFill>
                  <a:srgbClr val="FFFFFF"/>
                </a:solidFill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8229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000" b="0">
                <a:solidFill>
                  <a:srgbClr val="B4C8BE"/>
                </a:solidFill>
              </a:defRPr>
            </a:pPr>
            <a:r>
              <a:t>Scaling beyond Uganda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370332"/>
          </a:xfrm>
          <a:prstGeom prst="rect">
            <a:avLst/>
          </a:prstGeom>
          <a:solidFill>
            <a:srgbClr val="1E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91456"/>
            <a:ext cx="6858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800" b="0">
                <a:solidFill>
                  <a:srgbClr val="B4C8BE"/>
                </a:solidFill>
              </a:defRPr>
            </a:pPr>
            <a:r>
              <a:t>Uganda NDC Data Explorer  ·  Demo 17 June 2026  ·  Data: Climate TRACE API v7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791456"/>
            <a:ext cx="594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  <a:defRPr sz="9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749808"/>
            <a:ext cx="260908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749808"/>
            <a:ext cx="2609088" cy="34747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813816"/>
            <a:ext cx="23896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Policy paper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188720"/>
            <a:ext cx="2389632" cy="2414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Searchable national policy corpus per country.</a:t>
            </a:r>
            <a:br/>
            <a:br/>
            <a:r>
              <a:t>Full-text search linked to NDC targets and Climate TRACE sectors.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7456" y="749808"/>
            <a:ext cx="260908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67456" y="749808"/>
            <a:ext cx="2609088" cy="34747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84" y="813816"/>
            <a:ext cx="23896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Mobile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84" y="1188720"/>
            <a:ext cx="2389632" cy="2414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Field MRV capture and district briefings.</a:t>
            </a:r>
            <a:br/>
            <a:br/>
            <a:r>
              <a:t>Offline views when API is unavailable.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77712" y="749808"/>
            <a:ext cx="260908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77712" y="749808"/>
            <a:ext cx="2609088" cy="347472"/>
          </a:xfrm>
          <a:prstGeom prst="rect">
            <a:avLst/>
          </a:prstGeom>
          <a:solidFill>
            <a:srgbClr val="39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7440" y="813816"/>
            <a:ext cx="23896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Multi-country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440" y="1188720"/>
            <a:ext cx="2389632" cy="2414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defRPr sz="900" b="0">
                <a:solidFill>
                  <a:srgbClr val="1E2A24"/>
                </a:solidFill>
              </a:defRPr>
            </a:pPr>
            <a:r>
              <a:t>Replicate cockpit for other NDCs.</a:t>
            </a:r>
            <a:br/>
            <a:br/>
            <a:r>
              <a:t>Shared Climate TRACE v7 pipeline; country strategy layers.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15968"/>
            <a:ext cx="82296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5000"/>
              </a:lnSpc>
              <a:defRPr sz="900" b="0">
                <a:solidFill>
                  <a:srgbClr val="5F6E64"/>
                </a:solidFill>
              </a:defRPr>
            </a:pPr>
            <a:r>
              <a:t>Questions?  ·  https://ndc-data-explorer-e051f914.vercel.app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